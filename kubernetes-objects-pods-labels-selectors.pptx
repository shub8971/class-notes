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IdLst>
    <p:sldId id="256" r:id="rId2"/>
    <p:sldId id="260" r:id="rId3"/>
    <p:sldId id="261" r:id="rId4"/>
    <p:sldId id="262" r:id="rId5"/>
    <p:sldId id="257" r:id="rId6"/>
    <p:sldId id="258" r:id="rId7"/>
    <p:sldId id="259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041C32-DDB4-4207-A70D-079B11139293}" v="592" dt="2023-09-29T12:45:47.662"/>
    <p1510:client id="{F4A4D6DF-F3E0-446F-9228-B3618D4E61B3}" v="598" dt="2023-09-17T02:57:09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Shantanu Mahajan (Velocity)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510206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Shantanu Mahajan (Velocity)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78198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 dirty="0"/>
              <a:t>by Shantanu Mahajan (Velocity)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666708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Shantanu Mahajan (Velocity)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75376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Shantanu Mahajan (Velocity)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126082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Shantanu Mahajan (Velocity)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617861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Shantanu Mahajan (Velocity)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91907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Shantanu Mahajan (Velocity)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0520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9/29/2023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20444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Shantanu Mahajan (Velocity)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707815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Shantanu Mahajan (Velocity)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996223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by Shantanu Mahajan (Velocity)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73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concepts/workloads/pods/#:~:text=Pods%20in%20a%20Kubernetes%20cluster,than%20managing%20the%20containers%20directly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8958" y="1461815"/>
            <a:ext cx="9959562" cy="3006216"/>
          </a:xfrm>
        </p:spPr>
        <p:txBody>
          <a:bodyPr/>
          <a:lstStyle/>
          <a:p>
            <a:r>
              <a:rPr lang="en-US" dirty="0"/>
              <a:t>K8s objects/pods/labels-selectors</a:t>
            </a:r>
            <a:endParaRPr lang="en-US" dirty="0">
              <a:latin typeface="Rockwell Condensed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2450" y="5025352"/>
            <a:ext cx="7898670" cy="12326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Calibri" pitchFamily="2" charset="2"/>
              <a:buChar char="-"/>
            </a:pPr>
            <a:r>
              <a:rPr lang="en-US" dirty="0"/>
              <a:t>Shantanu Mahajan (Velocity)</a:t>
            </a:r>
          </a:p>
          <a:p>
            <a:pPr marL="342900" indent="-342900">
              <a:buClr>
                <a:srgbClr val="9E3611"/>
              </a:buClr>
              <a:buFont typeface="Calibri" pitchFamily="2" charset="2"/>
              <a:buChar char="-"/>
            </a:pPr>
            <a:r>
              <a:rPr lang="en-US" dirty="0"/>
              <a:t>Sr </a:t>
            </a:r>
            <a:r>
              <a:rPr lang="en-US" dirty="0" err="1"/>
              <a:t>Engg</a:t>
            </a:r>
            <a:r>
              <a:rPr lang="en-US" dirty="0"/>
              <a:t> </a:t>
            </a:r>
            <a:r>
              <a:rPr lang="en-US" dirty="0" err="1"/>
              <a:t>Devops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8A6C91-50CD-E6AA-FD0D-02D039228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Shantanu Mahajan (Velocity)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8A5D-39DE-DCD5-0BBB-10812AD99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55499"/>
            <a:ext cx="10058400" cy="1598686"/>
          </a:xfrm>
        </p:spPr>
        <p:txBody>
          <a:bodyPr>
            <a:normAutofit/>
          </a:bodyPr>
          <a:lstStyle/>
          <a:p>
            <a:r>
              <a:rPr lang="en-US" sz="3600" dirty="0"/>
              <a:t>K8s objects</a:t>
            </a:r>
            <a:br>
              <a:rPr lang="en-US" sz="3600" dirty="0"/>
            </a:br>
            <a:r>
              <a:rPr lang="en-US" sz="3600" dirty="0">
                <a:ea typeface="+mj-lt"/>
                <a:cs typeface="+mj-lt"/>
              </a:rPr>
              <a:t>https://kubernetes.io/docs/concepts/overview/working-with-objects/</a:t>
            </a:r>
            <a:endParaRPr lang="en-US" sz="3600" dirty="0">
              <a:latin typeface="Rockwell Condense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43AD3-BC6C-5F50-49BE-FEC8B2E40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71752"/>
            <a:ext cx="10058400" cy="396020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Kubernetes</a:t>
            </a:r>
            <a:r>
              <a:rPr lang="en-US" i="1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objects are persistent entities in the Kubernetes system. Kubernetes uses these entities to represent the state of your cluster. Specifically, they can describe:</a:t>
            </a: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What containerized applications are running (and on which nodes)</a:t>
            </a: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The resources available to those applications</a:t>
            </a: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The policies around how those applications behave, such as restart policies, upgrades, and fault-tolerance</a:t>
            </a: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A Kubernetes object is a "record of intent"--once you create the object, the Kubernetes system will constantly work to ensure that object exists. 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By creating an object, you're effectively telling the Kubernetes system what you want your cluster's workload to look like; this is your cluster's </a:t>
            </a:r>
            <a:r>
              <a:rPr lang="en-US" i="1" dirty="0">
                <a:solidFill>
                  <a:srgbClr val="222222"/>
                </a:solidFill>
                <a:ea typeface="+mn-lt"/>
                <a:cs typeface="+mn-lt"/>
              </a:rPr>
              <a:t>desired state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To work with Kubernetes objects—whether to create, modify, or delete them—you'll need to use th</a:t>
            </a:r>
            <a:r>
              <a:rPr lang="en-US" dirty="0">
                <a:ea typeface="+mn-lt"/>
                <a:cs typeface="+mn-lt"/>
              </a:rPr>
              <a:t>e Kubernetes API. W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hen you use the </a:t>
            </a:r>
            <a:r>
              <a:rPr lang="en-US" dirty="0" err="1">
                <a:solidFill>
                  <a:srgbClr val="222222"/>
                </a:solidFill>
                <a:latin typeface="Rockwell"/>
              </a:rPr>
              <a:t>kubectl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 command-line interface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F000F-FD9A-DED5-3CDC-D0EEA065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Shantanu Mahajan (Velocity)</a:t>
            </a:r>
          </a:p>
        </p:txBody>
      </p:sp>
    </p:spTree>
    <p:extLst>
      <p:ext uri="{BB962C8B-B14F-4D97-AF65-F5344CB8AC3E}">
        <p14:creationId xmlns:p14="http://schemas.microsoft.com/office/powerpoint/2010/main" val="3299591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519F-6750-ACA2-9D07-D2C8C242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687122"/>
            <a:ext cx="10058400" cy="133225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222222"/>
                </a:solidFill>
              </a:rPr>
              <a:t>Object spec and status</a:t>
            </a:r>
            <a:endParaRPr lang="en-US" sz="4400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6519A-8712-375F-09FD-EA5B8FF9D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92625"/>
            <a:ext cx="10058400" cy="5218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Almost every Kubernetes object includes two nested object fields that govern the object's configuration Almost every Kubernetes object includes two nested object fields that govern the object's configuration.</a:t>
            </a:r>
          </a:p>
          <a:p>
            <a:pPr marL="457200" indent="-457200">
              <a:buClr>
                <a:srgbClr val="9E3611"/>
              </a:buClr>
              <a:buAutoNum type="arabicPeriod"/>
            </a:pPr>
            <a:r>
              <a:rPr lang="en-US" dirty="0">
                <a:solidFill>
                  <a:srgbClr val="222222"/>
                </a:solidFill>
              </a:rPr>
              <a:t>The Object Spec</a:t>
            </a:r>
          </a:p>
          <a:p>
            <a:pPr marL="457200" indent="-457200">
              <a:buClr>
                <a:srgbClr val="9E3611"/>
              </a:buClr>
              <a:buAutoNum type="arabicPeriod"/>
            </a:pPr>
            <a:r>
              <a:rPr lang="en-US" dirty="0">
                <a:solidFill>
                  <a:srgbClr val="222222"/>
                </a:solidFill>
              </a:rPr>
              <a:t>The Object Status</a:t>
            </a:r>
          </a:p>
          <a:p>
            <a:pPr marL="457200" indent="-457200">
              <a:buClr>
                <a:srgbClr val="9E3611"/>
              </a:buClr>
              <a:buAutoNum type="arabicPeriod"/>
            </a:pPr>
            <a:endParaRPr lang="en-US" dirty="0">
              <a:solidFill>
                <a:srgbClr val="222222"/>
              </a:solidFill>
            </a:endParaRPr>
          </a:p>
          <a:p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For objects that have a </a:t>
            </a:r>
            <a:r>
              <a:rPr lang="en-US" dirty="0">
                <a:solidFill>
                  <a:srgbClr val="222222"/>
                </a:solidFill>
                <a:latin typeface="Rockwell" panose="02060603020205020403"/>
              </a:rPr>
              <a:t>spec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, you have to set this when you create the object, providing a description of the characteristics you want the resource to have: its </a:t>
            </a:r>
            <a:r>
              <a:rPr lang="en-US" i="1" dirty="0">
                <a:solidFill>
                  <a:srgbClr val="222222"/>
                </a:solidFill>
                <a:ea typeface="+mn-lt"/>
                <a:cs typeface="+mn-lt"/>
              </a:rPr>
              <a:t>desired state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.</a:t>
            </a: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The </a:t>
            </a:r>
            <a:r>
              <a:rPr lang="en-US" dirty="0">
                <a:solidFill>
                  <a:srgbClr val="222222"/>
                </a:solidFill>
                <a:latin typeface="Rockwell" panose="02060603020205020403"/>
                <a:ea typeface="+mn-lt"/>
                <a:cs typeface="+mn-lt"/>
              </a:rPr>
              <a:t>status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 describes the </a:t>
            </a:r>
            <a:r>
              <a:rPr lang="en-US" i="1" dirty="0">
                <a:solidFill>
                  <a:srgbClr val="222222"/>
                </a:solidFill>
                <a:ea typeface="+mn-lt"/>
                <a:cs typeface="+mn-lt"/>
              </a:rPr>
              <a:t>current state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 of the object, supplied and updated by the Kubernetes system and its components. </a:t>
            </a: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The Kubernetes 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control plane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 continually and actively manages every object's actual state to match the desired state you supplied.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9ACB2-1D23-6AF5-3B87-DE14BF0F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Shantanu Mahajan (Velocity)</a:t>
            </a:r>
          </a:p>
        </p:txBody>
      </p:sp>
    </p:spTree>
    <p:extLst>
      <p:ext uri="{BB962C8B-B14F-4D97-AF65-F5344CB8AC3E}">
        <p14:creationId xmlns:p14="http://schemas.microsoft.com/office/powerpoint/2010/main" val="1070467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63E9-5B2B-3D00-2885-7716EF879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objects used in k8s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886E-54FD-77B6-F009-47D344C93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15171A"/>
                </a:solidFill>
                <a:ea typeface="+mn-lt"/>
                <a:cs typeface="+mn-lt"/>
              </a:rPr>
              <a:t>There are many different types of Kubernetes objects below are some imp:-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Clr>
                <a:srgbClr val="9E3611"/>
              </a:buClr>
            </a:pPr>
            <a:r>
              <a:rPr lang="en-US" sz="1500" dirty="0">
                <a:solidFill>
                  <a:srgbClr val="15171A"/>
                </a:solidFill>
              </a:rPr>
              <a:t>Pods</a:t>
            </a:r>
            <a:endParaRPr lang="en-US" dirty="0">
              <a:solidFill>
                <a:srgbClr val="15171A"/>
              </a:solidFill>
            </a:endParaRPr>
          </a:p>
          <a:p>
            <a:pPr>
              <a:buClr>
                <a:srgbClr val="9E3611"/>
              </a:buClr>
            </a:pPr>
            <a:r>
              <a:rPr lang="en-US" sz="1500" dirty="0">
                <a:solidFill>
                  <a:srgbClr val="15171A"/>
                </a:solidFill>
              </a:rPr>
              <a:t>Deployment</a:t>
            </a:r>
            <a:endParaRPr lang="en-US" dirty="0">
              <a:solidFill>
                <a:srgbClr val="15171A"/>
              </a:solidFill>
            </a:endParaRPr>
          </a:p>
          <a:p>
            <a:pPr>
              <a:buClr>
                <a:srgbClr val="9E3611"/>
              </a:buClr>
            </a:pPr>
            <a:r>
              <a:rPr lang="en-US" sz="1500" err="1">
                <a:solidFill>
                  <a:srgbClr val="15171A"/>
                </a:solidFill>
              </a:rPr>
              <a:t>ReplicaSets</a:t>
            </a:r>
            <a:endParaRPr lang="en-US" dirty="0" err="1">
              <a:solidFill>
                <a:srgbClr val="15171A"/>
              </a:solidFill>
            </a:endParaRPr>
          </a:p>
          <a:p>
            <a:pPr>
              <a:buClr>
                <a:srgbClr val="9E3611"/>
              </a:buClr>
            </a:pPr>
            <a:r>
              <a:rPr lang="en-US" sz="1500" dirty="0" err="1">
                <a:solidFill>
                  <a:srgbClr val="15171A"/>
                </a:solidFill>
              </a:rPr>
              <a:t>StatefulSet</a:t>
            </a:r>
            <a:endParaRPr lang="en-US" dirty="0" err="1">
              <a:solidFill>
                <a:srgbClr val="15171A"/>
              </a:solidFill>
            </a:endParaRPr>
          </a:p>
          <a:p>
            <a:pPr>
              <a:buClr>
                <a:srgbClr val="9E3611"/>
              </a:buClr>
            </a:pPr>
            <a:r>
              <a:rPr lang="en-US" sz="1500" dirty="0" err="1">
                <a:solidFill>
                  <a:srgbClr val="15171A"/>
                </a:solidFill>
              </a:rPr>
              <a:t>DaemonSets</a:t>
            </a:r>
            <a:endParaRPr lang="en-US" dirty="0" err="1">
              <a:solidFill>
                <a:srgbClr val="15171A"/>
              </a:solidFill>
            </a:endParaRPr>
          </a:p>
          <a:p>
            <a:pPr>
              <a:buClr>
                <a:srgbClr val="9E3611"/>
              </a:buClr>
            </a:pPr>
            <a:r>
              <a:rPr lang="en-US" sz="1500" dirty="0" err="1">
                <a:solidFill>
                  <a:srgbClr val="15171A"/>
                </a:solidFill>
              </a:rPr>
              <a:t>PersistentVolume</a:t>
            </a:r>
            <a:endParaRPr lang="en-US" dirty="0" err="1">
              <a:solidFill>
                <a:srgbClr val="15171A"/>
              </a:solidFill>
            </a:endParaRPr>
          </a:p>
          <a:p>
            <a:pPr>
              <a:buClr>
                <a:srgbClr val="9E3611"/>
              </a:buClr>
            </a:pPr>
            <a:r>
              <a:rPr lang="en-US" sz="1500" dirty="0">
                <a:solidFill>
                  <a:srgbClr val="15171A"/>
                </a:solidFill>
              </a:rPr>
              <a:t>Service</a:t>
            </a:r>
            <a:endParaRPr lang="en-US" dirty="0">
              <a:solidFill>
                <a:srgbClr val="15171A"/>
              </a:solidFill>
            </a:endParaRPr>
          </a:p>
          <a:p>
            <a:pPr>
              <a:buClr>
                <a:srgbClr val="9E3611"/>
              </a:buClr>
            </a:pPr>
            <a:r>
              <a:rPr lang="en-US" sz="1500">
                <a:solidFill>
                  <a:srgbClr val="15171A"/>
                </a:solidFill>
              </a:rPr>
              <a:t>Namespaces</a:t>
            </a:r>
            <a:endParaRPr lang="en-US" dirty="0">
              <a:solidFill>
                <a:srgbClr val="15171A"/>
              </a:solidFill>
            </a:endParaRPr>
          </a:p>
          <a:p>
            <a:pPr>
              <a:buClr>
                <a:srgbClr val="9E3611"/>
              </a:buClr>
            </a:pPr>
            <a:r>
              <a:rPr lang="en-US" sz="1500" dirty="0" err="1">
                <a:solidFill>
                  <a:srgbClr val="15171A"/>
                </a:solidFill>
              </a:rPr>
              <a:t>ConfigMaps</a:t>
            </a:r>
            <a:r>
              <a:rPr lang="en-US" sz="1500" dirty="0">
                <a:solidFill>
                  <a:srgbClr val="15171A"/>
                </a:solidFill>
              </a:rPr>
              <a:t> &amp; Secrets</a:t>
            </a:r>
            <a:endParaRPr lang="en-US" dirty="0">
              <a:solidFill>
                <a:srgbClr val="15171A"/>
              </a:solidFill>
            </a:endParaRPr>
          </a:p>
          <a:p>
            <a:pPr>
              <a:buClr>
                <a:srgbClr val="9E3611"/>
              </a:buClr>
            </a:pPr>
            <a:r>
              <a:rPr lang="en-US" sz="1500" dirty="0">
                <a:solidFill>
                  <a:srgbClr val="15171A"/>
                </a:solidFill>
              </a:rPr>
              <a:t>Jobs and more</a:t>
            </a:r>
            <a:endParaRPr lang="en-US" dirty="0">
              <a:solidFill>
                <a:srgbClr val="15171A"/>
              </a:solidFill>
            </a:endParaRPr>
          </a:p>
          <a:p>
            <a:pPr marL="457200" indent="-457200">
              <a:buClr>
                <a:srgbClr val="9E3611"/>
              </a:buClr>
              <a:buAutoNum type="arabicPeriod"/>
            </a:pPr>
            <a:endParaRPr lang="en-US" dirty="0">
              <a:solidFill>
                <a:srgbClr val="15171A"/>
              </a:solidFill>
            </a:endParaRPr>
          </a:p>
          <a:p>
            <a:pPr>
              <a:buClr>
                <a:srgbClr val="9E3611"/>
              </a:buClr>
            </a:pPr>
            <a:endParaRPr lang="en-US" dirty="0">
              <a:solidFill>
                <a:srgbClr val="15171A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FBAE3-181F-F8A2-540F-A07C2069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Shantanu Mahajan (Velocity)</a:t>
            </a:r>
          </a:p>
        </p:txBody>
      </p:sp>
    </p:spTree>
    <p:extLst>
      <p:ext uri="{BB962C8B-B14F-4D97-AF65-F5344CB8AC3E}">
        <p14:creationId xmlns:p14="http://schemas.microsoft.com/office/powerpoint/2010/main" val="187935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6EAE-8001-C183-EC96-E8F2F073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Pod </a:t>
            </a:r>
            <a:r>
              <a:rPr lang="en-US" dirty="0" err="1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C53CD-8116-E54F-D940-896FF7C95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https://kubernetes.io/docs/concepts/workloads/pods/#:~:text=Pods%20in%20a%20Kubernetes%20cluster,than%20managing%20the%20containers%20directly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9E3611"/>
              </a:buClr>
            </a:pPr>
            <a:r>
              <a:rPr lang="en-US" dirty="0"/>
              <a:t>Pod is the smallest unit of k8s</a:t>
            </a:r>
          </a:p>
          <a:p>
            <a:pPr>
              <a:buClr>
                <a:srgbClr val="9E3611"/>
              </a:buClr>
            </a:pPr>
            <a:r>
              <a:rPr lang="en-US" dirty="0"/>
              <a:t>Pod consist of one or more containers running, deployed together on a same machine.</a:t>
            </a:r>
          </a:p>
          <a:p>
            <a:pPr>
              <a:buClr>
                <a:srgbClr val="9E3611"/>
              </a:buClr>
            </a:pPr>
            <a:r>
              <a:rPr lang="en-US" dirty="0"/>
              <a:t>K8s controls, manages, creates, deletes the pod not the containers.</a:t>
            </a:r>
          </a:p>
          <a:p>
            <a:pPr>
              <a:buClr>
                <a:srgbClr val="9E3611"/>
              </a:buClr>
            </a:pPr>
            <a:r>
              <a:rPr lang="en-US" dirty="0"/>
              <a:t>Container runtime is responsible to create containers.</a:t>
            </a:r>
          </a:p>
          <a:p>
            <a:pPr>
              <a:buClr>
                <a:srgbClr val="9E3611"/>
              </a:buClr>
            </a:pPr>
            <a:r>
              <a:rPr lang="en-US" dirty="0"/>
              <a:t>Pods are created on worker nodes</a:t>
            </a:r>
          </a:p>
          <a:p>
            <a:pPr>
              <a:buClr>
                <a:srgbClr val="9E3611"/>
              </a:buClr>
            </a:pPr>
            <a:r>
              <a:rPr lang="en-US" dirty="0"/>
              <a:t>Usually one pod has single container but we can have multiple as well</a:t>
            </a:r>
          </a:p>
          <a:p>
            <a:pPr>
              <a:buClr>
                <a:srgbClr val="9E3611"/>
              </a:buClr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3DA9A-9509-0D06-BE2C-7C8F4B83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Shantanu Mahajan (Velocity)</a:t>
            </a:r>
          </a:p>
        </p:txBody>
      </p:sp>
    </p:spTree>
    <p:extLst>
      <p:ext uri="{BB962C8B-B14F-4D97-AF65-F5344CB8AC3E}">
        <p14:creationId xmlns:p14="http://schemas.microsoft.com/office/powerpoint/2010/main" val="235839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512D7-9B77-E67F-1DD6-A9A6EE57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container pods</a:t>
            </a:r>
            <a:endParaRPr lang="en-US" dirty="0">
              <a:latin typeface="Rockwell Condense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BB7BB-13DB-5508-D34F-8CEBF8F4E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containers share memory and volume assigned to pod</a:t>
            </a:r>
          </a:p>
          <a:p>
            <a:pPr>
              <a:buClr>
                <a:srgbClr val="9E3611"/>
              </a:buClr>
            </a:pPr>
            <a:r>
              <a:rPr lang="en-US" dirty="0"/>
              <a:t>Containers communicate with each other with the help of localhost</a:t>
            </a:r>
          </a:p>
          <a:p>
            <a:pPr>
              <a:buClr>
                <a:srgbClr val="9E3611"/>
              </a:buClr>
            </a:pPr>
            <a:r>
              <a:rPr lang="en-US" dirty="0"/>
              <a:t>They share access to same volume</a:t>
            </a:r>
          </a:p>
          <a:p>
            <a:pPr>
              <a:buClr>
                <a:srgbClr val="9E3611"/>
              </a:buClr>
            </a:pPr>
            <a:r>
              <a:rPr lang="en-US" dirty="0"/>
              <a:t>Containers are tightly coupled to each other and are deployed in a way that there existence dependent on each other</a:t>
            </a:r>
          </a:p>
          <a:p>
            <a:pPr>
              <a:buClr>
                <a:srgbClr val="9E3611"/>
              </a:buClr>
            </a:pPr>
            <a:r>
              <a:rPr lang="en-US" dirty="0"/>
              <a:t>Entire pod will be hosted on same node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E548F-2371-0072-A259-5365333AB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Shantanu Mahajan (Velocity)</a:t>
            </a:r>
          </a:p>
        </p:txBody>
      </p:sp>
    </p:spTree>
    <p:extLst>
      <p:ext uri="{BB962C8B-B14F-4D97-AF65-F5344CB8AC3E}">
        <p14:creationId xmlns:p14="http://schemas.microsoft.com/office/powerpoint/2010/main" val="3953309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48A0-8BDE-39D5-9E3E-5780622B2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pod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5B9E0-548E-E88A-2E4A-195E3DFA6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 default no auto-healing and auto-scaling</a:t>
            </a:r>
          </a:p>
          <a:p>
            <a:pPr>
              <a:buClr>
                <a:srgbClr val="9E3611"/>
              </a:buClr>
            </a:pPr>
            <a:r>
              <a:rPr lang="en-US" dirty="0"/>
              <a:t>If a container in pod crashes the pod also crashes</a:t>
            </a:r>
          </a:p>
          <a:p>
            <a:pPr>
              <a:buClr>
                <a:srgbClr val="9E3611"/>
              </a:buClr>
            </a:pPr>
            <a:r>
              <a:rPr lang="en-US" dirty="0"/>
              <a:t>If a pod is deleted the volumes in pod also be deleted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7E8BA-DADE-A0ED-E12F-51096B23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Shantanu Mahajan (Velocity)</a:t>
            </a:r>
          </a:p>
        </p:txBody>
      </p:sp>
    </p:spTree>
    <p:extLst>
      <p:ext uri="{BB962C8B-B14F-4D97-AF65-F5344CB8AC3E}">
        <p14:creationId xmlns:p14="http://schemas.microsoft.com/office/powerpoint/2010/main" val="4005224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09A4-A6EC-0423-0AC3-5417BC6E5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LABELS and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AD97F-008F-87A9-9AD1-FFA50442A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86892"/>
            <a:ext cx="10058400" cy="47083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Labels are key/value pairs that are attached to </a:t>
            </a:r>
            <a:r>
              <a:rPr lang="en-US" dirty="0">
                <a:ea typeface="+mn-lt"/>
                <a:cs typeface="+mn-lt"/>
              </a:rPr>
              <a:t>objects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 such as Pods. 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Labels are intended to be used to specify identifying attributes of objects that are meaningful and relevant to users, but do not directly imply semantics to the core system. 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Labels can be used to organize and to select subsets of objects. Labels can be attached to objects at creation time and subsequently added and modified at any time. 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Each object can have a set of key/value labels defined. Each Key must be unique for a given object.</a:t>
            </a: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</a:rPr>
              <a:t>Basically labels are mechanism we use to organize the k8s objects and written under metadata</a:t>
            </a: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</a:rPr>
              <a:t>They are similar to tags in AWS.</a:t>
            </a: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</a:rPr>
              <a:t>We can have multiple labels to single object.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2993F-2775-5935-50F5-CE035941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Shantanu Mahajan (Velocity)</a:t>
            </a:r>
          </a:p>
        </p:txBody>
      </p:sp>
    </p:spTree>
    <p:extLst>
      <p:ext uri="{BB962C8B-B14F-4D97-AF65-F5344CB8AC3E}">
        <p14:creationId xmlns:p14="http://schemas.microsoft.com/office/powerpoint/2010/main" val="740041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018D-2DDB-C5A3-9CBD-04878D24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 Condensed"/>
              </a:rPr>
              <a:t>Labels and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308B-CC25-C375-28DB-FE0753A0A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13756"/>
            <a:ext cx="10058400" cy="29410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Unlik</a:t>
            </a:r>
            <a:r>
              <a:rPr lang="en-US" dirty="0">
                <a:ea typeface="+mn-lt"/>
                <a:cs typeface="+mn-lt"/>
              </a:rPr>
              <a:t>e names and UIDs, la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bels do not provide uniqueness. In general, we expect many objects to carry the same label(s).</a:t>
            </a: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Via a label selector, the client/user can identify a set of objects. The label selector is the core grouping primitive in Kubernetes.</a:t>
            </a:r>
            <a:endParaRPr lang="en-US" dirty="0"/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The API currently supports two types of selectors: </a:t>
            </a:r>
            <a:r>
              <a:rPr lang="en-US" i="1" dirty="0">
                <a:solidFill>
                  <a:srgbClr val="222222"/>
                </a:solidFill>
                <a:ea typeface="+mn-lt"/>
                <a:cs typeface="+mn-lt"/>
              </a:rPr>
              <a:t>equality-based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 and </a:t>
            </a:r>
            <a:r>
              <a:rPr lang="en-US" i="1" dirty="0">
                <a:solidFill>
                  <a:srgbClr val="222222"/>
                </a:solidFill>
                <a:ea typeface="+mn-lt"/>
                <a:cs typeface="+mn-lt"/>
              </a:rPr>
              <a:t>set-based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. A label selector can be made of multiple requirements which are comma-separated. </a:t>
            </a:r>
            <a:endParaRPr lang="en-US" dirty="0"/>
          </a:p>
          <a:p>
            <a:pPr marL="0" indent="0">
              <a:buClr>
                <a:srgbClr val="9E3611"/>
              </a:buCl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CCBED-41EC-295A-F6F2-9C362022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Shantanu Mahajan (Velocity)</a:t>
            </a:r>
          </a:p>
        </p:txBody>
      </p:sp>
    </p:spTree>
    <p:extLst>
      <p:ext uri="{BB962C8B-B14F-4D97-AF65-F5344CB8AC3E}">
        <p14:creationId xmlns:p14="http://schemas.microsoft.com/office/powerpoint/2010/main" val="3202884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DED2-A363-B53E-D875-090FDB031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336671"/>
            <a:ext cx="10058400" cy="1387403"/>
          </a:xfrm>
        </p:spPr>
        <p:txBody>
          <a:bodyPr/>
          <a:lstStyle/>
          <a:p>
            <a:r>
              <a:rPr lang="en-US" dirty="0"/>
              <a:t>Node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40F63-A7FC-C9FA-DD89-29A00C426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25486"/>
            <a:ext cx="10058400" cy="33109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You can constrain a </a:t>
            </a:r>
            <a:r>
              <a:rPr lang="en-US" dirty="0">
                <a:ea typeface="+mn-lt"/>
                <a:cs typeface="+mn-lt"/>
              </a:rPr>
              <a:t>Pod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 so that it is restricted to run on particular </a:t>
            </a:r>
            <a:r>
              <a:rPr lang="en-US" dirty="0">
                <a:ea typeface="+mn-lt"/>
                <a:cs typeface="+mn-lt"/>
              </a:rPr>
              <a:t>node(s)</a:t>
            </a: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, or to prefer to run on particular nodes. </a:t>
            </a: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</a:rPr>
              <a:t>Here we can attach a label to a particular node and then we can select that node with the help of node-selector and make sure the pod runs on the node.</a:t>
            </a:r>
          </a:p>
          <a:p>
            <a:pPr>
              <a:buClr>
                <a:srgbClr val="9E3611"/>
              </a:buClr>
            </a:pPr>
            <a:r>
              <a:rPr lang="en-US" dirty="0">
                <a:solidFill>
                  <a:srgbClr val="222222"/>
                </a:solidFill>
                <a:ea typeface="+mn-lt"/>
                <a:cs typeface="+mn-lt"/>
              </a:rPr>
              <a:t>https://kubernetes.io/docs/concepts/scheduling-eviction/assign-pod-node/</a:t>
            </a:r>
            <a:endParaRPr lang="en-US" dirty="0">
              <a:solidFill>
                <a:srgbClr val="22222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4A0AA-0474-721B-A56A-8822559B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Shantanu Mahajan (Velocity)</a:t>
            </a:r>
          </a:p>
        </p:txBody>
      </p:sp>
    </p:spTree>
    <p:extLst>
      <p:ext uri="{BB962C8B-B14F-4D97-AF65-F5344CB8AC3E}">
        <p14:creationId xmlns:p14="http://schemas.microsoft.com/office/powerpoint/2010/main" val="25158966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Wood Type</vt:lpstr>
      <vt:lpstr>K8s objects/pods/labels-selectors</vt:lpstr>
      <vt:lpstr>K8s objects https://kubernetes.io/docs/concepts/overview/working-with-objects/</vt:lpstr>
      <vt:lpstr>Object spec and status </vt:lpstr>
      <vt:lpstr>Types of objects used in k8s</vt:lpstr>
      <vt:lpstr>Pod INtro</vt:lpstr>
      <vt:lpstr>Multi container pods</vt:lpstr>
      <vt:lpstr>Issues with pod</vt:lpstr>
      <vt:lpstr>LABELS and Selectors</vt:lpstr>
      <vt:lpstr>Labels and selectors</vt:lpstr>
      <vt:lpstr>Node Selector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178</cp:revision>
  <dcterms:created xsi:type="dcterms:W3CDTF">2023-09-17T02:41:30Z</dcterms:created>
  <dcterms:modified xsi:type="dcterms:W3CDTF">2023-09-29T12:46:50Z</dcterms:modified>
</cp:coreProperties>
</file>