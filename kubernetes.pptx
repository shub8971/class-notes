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CECCEC-CAE5-45C2-BC56-A2A55B84FF05}" v="471" dt="2023-09-29T12:16:16.008"/>
    <p1510:client id="{2458E24F-D127-45AF-AFF5-4CAA69E6FAEE}" v="491" dt="2023-09-27T11:30:49.852"/>
    <p1510:client id="{246B8E8A-1F44-4FF3-8841-8AA482F8365A}" v="105" dt="2023-09-15T12:19:25.594"/>
    <p1510:client id="{2E170416-AB2D-4912-B8D4-B9CA19257737}" v="54" dt="2023-09-29T12:47:34.238"/>
    <p1510:client id="{8848370C-F624-4E10-BAB5-79C66093863D}" v="127" dt="2023-09-28T02:43:44.631"/>
    <p1510:client id="{E840E830-9D1C-417C-AC84-4C5C3D6DB6EF}" v="1289" dt="2023-09-15T12:57:07.3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83284890-85D2-4D7B-8EF5-15A9C1DB8F42}" type="datetimeFigureOut">
              <a:rPr lang="en-US" dirty="0"/>
              <a:t>9/29/2023</a:t>
            </a:fld>
            <a:endParaRPr lang="en-US" dirty="0"/>
          </a:p>
        </p:txBody>
      </p:sp>
      <p:sp>
        <p:nvSpPr>
          <p:cNvPr id="5" name="Footer Placeholder 4"/>
          <p:cNvSpPr>
            <a:spLocks noGrp="1"/>
          </p:cNvSpPr>
          <p:nvPr>
            <p:ph type="ftr" sz="quarter" idx="11"/>
          </p:nvPr>
        </p:nvSpPr>
        <p:spPr/>
        <p:txBody>
          <a:bodyPr/>
          <a:lstStyle/>
          <a:p>
            <a:r>
              <a:rPr lang="en-US" dirty="0"/>
              <a:t>by:- Shantanu Mahajan (Velocity)</a:t>
            </a:r>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2417080109"/>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2F5661D-6934-4B32-B92C-470368BF1EC6}" type="datetimeFigureOut">
              <a:rPr lang="en-US" dirty="0"/>
              <a:t>9/29/2023</a:t>
            </a:fld>
            <a:endParaRPr lang="en-US" dirty="0"/>
          </a:p>
        </p:txBody>
      </p:sp>
      <p:sp>
        <p:nvSpPr>
          <p:cNvPr id="5" name="Footer Placeholder 4"/>
          <p:cNvSpPr>
            <a:spLocks noGrp="1"/>
          </p:cNvSpPr>
          <p:nvPr>
            <p:ph type="ftr" sz="quarter" idx="11"/>
          </p:nvPr>
        </p:nvSpPr>
        <p:spPr/>
        <p:txBody>
          <a:bodyPr/>
          <a:lstStyle/>
          <a:p>
            <a:r>
              <a:rPr lang="en-US" dirty="0"/>
              <a:t>by:- Shantanu Mahajan (Velocity)</a:t>
            </a:r>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609969107"/>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dirty="0"/>
              <a:t>Click to edit Master title style</a:t>
            </a:r>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9/29/2023</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r>
              <a:rPr lang="en-US" dirty="0"/>
              <a:t>by:- Shantanu Mahajan (Velocity)</a:t>
            </a:r>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457301511"/>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548D31E-DCDA-41A7-9C67-C4B11B94D21D}" type="datetimeFigureOut">
              <a:rPr lang="en-US" dirty="0"/>
              <a:t>9/29/2023</a:t>
            </a:fld>
            <a:endParaRPr lang="en-US" dirty="0"/>
          </a:p>
        </p:txBody>
      </p:sp>
      <p:sp>
        <p:nvSpPr>
          <p:cNvPr id="6" name="Footer Placeholder 5"/>
          <p:cNvSpPr>
            <a:spLocks noGrp="1"/>
          </p:cNvSpPr>
          <p:nvPr>
            <p:ph type="ftr" sz="quarter" idx="11"/>
          </p:nvPr>
        </p:nvSpPr>
        <p:spPr/>
        <p:txBody>
          <a:bodyPr/>
          <a:lstStyle/>
          <a:p>
            <a:r>
              <a:rPr lang="en-US" dirty="0"/>
              <a:t>by:- Shantanu Mahajan (Velocity)</a:t>
            </a:r>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314377399"/>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9B3762C0-B258-48F1-ADE6-176B4174CCDD}" type="datetimeFigureOut">
              <a:rPr lang="en-US" dirty="0"/>
              <a:t>9/29/2023</a:t>
            </a:fld>
            <a:endParaRPr lang="en-US" dirty="0"/>
          </a:p>
        </p:txBody>
      </p:sp>
      <p:sp>
        <p:nvSpPr>
          <p:cNvPr id="8" name="Footer Placeholder 7"/>
          <p:cNvSpPr>
            <a:spLocks noGrp="1"/>
          </p:cNvSpPr>
          <p:nvPr>
            <p:ph type="ftr" sz="quarter" idx="11"/>
          </p:nvPr>
        </p:nvSpPr>
        <p:spPr/>
        <p:txBody>
          <a:bodyPr/>
          <a:lstStyle/>
          <a:p>
            <a:r>
              <a:rPr lang="en-US" dirty="0"/>
              <a:t>by:- Shantanu Mahajan (Velocity)</a:t>
            </a:r>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814467554"/>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677919A6-33EB-49BD-A62F-1FA56B9F9712}" type="datetimeFigureOut">
              <a:rPr lang="en-US" dirty="0"/>
              <a:t>9/29/2023</a:t>
            </a:fld>
            <a:endParaRPr lang="en-US" dirty="0"/>
          </a:p>
        </p:txBody>
      </p:sp>
      <p:sp>
        <p:nvSpPr>
          <p:cNvPr id="4" name="Footer Placeholder 3"/>
          <p:cNvSpPr>
            <a:spLocks noGrp="1"/>
          </p:cNvSpPr>
          <p:nvPr>
            <p:ph type="ftr" sz="quarter" idx="11"/>
          </p:nvPr>
        </p:nvSpPr>
        <p:spPr/>
        <p:txBody>
          <a:bodyPr/>
          <a:lstStyle/>
          <a:p>
            <a:r>
              <a:rPr lang="en-US" dirty="0"/>
              <a:t>by:- Shantanu Mahajan (Velocity)</a:t>
            </a:r>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27284767"/>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9/29/2023</a:t>
            </a:fld>
            <a:endParaRPr lang="en-US" dirty="0"/>
          </a:p>
        </p:txBody>
      </p:sp>
      <p:sp>
        <p:nvSpPr>
          <p:cNvPr id="3" name="Footer Placeholder 2"/>
          <p:cNvSpPr>
            <a:spLocks noGrp="1"/>
          </p:cNvSpPr>
          <p:nvPr>
            <p:ph type="ftr" sz="quarter" idx="11"/>
          </p:nvPr>
        </p:nvSpPr>
        <p:spPr/>
        <p:txBody>
          <a:bodyPr/>
          <a:lstStyle/>
          <a:p>
            <a:r>
              <a:rPr lang="en-US" dirty="0"/>
              <a:t>by:- Shantanu Mahajan (Velocity)</a:t>
            </a:r>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4194520289"/>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dirty="0"/>
              <a:t>Click to edit Master title style</a:t>
            </a:r>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9/29/2023</a:t>
            </a:fld>
            <a:endParaRPr lang="en-US" dirty="0"/>
          </a:p>
        </p:txBody>
      </p:sp>
      <p:sp>
        <p:nvSpPr>
          <p:cNvPr id="6" name="Footer Placeholder 5"/>
          <p:cNvSpPr>
            <a:spLocks noGrp="1"/>
          </p:cNvSpPr>
          <p:nvPr>
            <p:ph type="ftr" sz="quarter" idx="11"/>
          </p:nvPr>
        </p:nvSpPr>
        <p:spPr/>
        <p:txBody>
          <a:bodyPr/>
          <a:lstStyle/>
          <a:p>
            <a:r>
              <a:rPr lang="en-US" dirty="0"/>
              <a:t>by:- Shantanu Mahajan (Velocity)</a:t>
            </a:r>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219433081"/>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dirty="0"/>
              <a:t>Click to edit Master title style</a:t>
            </a:r>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9/29/2023</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87841456"/>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7157CC2-0FC8-4686-B024-99790E0F5162}" type="datetimeFigureOut">
              <a:rPr lang="en-US" dirty="0"/>
              <a:t>9/29/2023</a:t>
            </a:fld>
            <a:endParaRPr lang="en-US" dirty="0"/>
          </a:p>
        </p:txBody>
      </p:sp>
      <p:sp>
        <p:nvSpPr>
          <p:cNvPr id="5" name="Footer Placeholder 4"/>
          <p:cNvSpPr>
            <a:spLocks noGrp="1"/>
          </p:cNvSpPr>
          <p:nvPr>
            <p:ph type="ftr" sz="quarter" idx="11"/>
          </p:nvPr>
        </p:nvSpPr>
        <p:spPr/>
        <p:txBody>
          <a:bodyPr/>
          <a:lstStyle/>
          <a:p>
            <a:r>
              <a:rPr lang="en-US" dirty="0"/>
              <a:t>by:- Shantanu Mahajan (Velocity)</a:t>
            </a:r>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77525420"/>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F6764DA5-CD3D-4590-A511-FCD3BC7A793E}" type="datetimeFigureOut">
              <a:rPr lang="en-US" dirty="0"/>
              <a:t>9/29/2023</a:t>
            </a:fld>
            <a:endParaRPr lang="en-US" dirty="0"/>
          </a:p>
        </p:txBody>
      </p:sp>
      <p:sp>
        <p:nvSpPr>
          <p:cNvPr id="5" name="Footer Placeholder 4"/>
          <p:cNvSpPr>
            <a:spLocks noGrp="1"/>
          </p:cNvSpPr>
          <p:nvPr>
            <p:ph type="ftr" sz="quarter" idx="11"/>
          </p:nvPr>
        </p:nvSpPr>
        <p:spPr/>
        <p:txBody>
          <a:bodyPr/>
          <a:lstStyle/>
          <a:p>
            <a:r>
              <a:rPr lang="en-US" dirty="0"/>
              <a:t>by:- Shantanu Mahajan (Velocity)</a:t>
            </a:r>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588651681"/>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9/29/2023</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r>
              <a:rPr lang="en-US" dirty="0"/>
              <a:t>by:- Shantanu Mahajan (Velocity)</a:t>
            </a:r>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1189229713"/>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sldNum="0" hd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about.gitlab.com/blog/2022/09/29/what-are-the-benefits-of-a-microservices-architecture/"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kubernetes.io/docs/concepts/overview/components/#kube-apiserver" TargetMode="Externa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kubernetes</a:t>
            </a:r>
          </a:p>
        </p:txBody>
      </p:sp>
      <p:sp>
        <p:nvSpPr>
          <p:cNvPr id="3" name="Subtitle 2"/>
          <p:cNvSpPr>
            <a:spLocks noGrp="1"/>
          </p:cNvSpPr>
          <p:nvPr>
            <p:ph type="subTitle" idx="1"/>
          </p:nvPr>
        </p:nvSpPr>
        <p:spPr/>
        <p:txBody>
          <a:bodyPr vert="horz" lIns="91440" tIns="45720" rIns="91440" bIns="45720" rtlCol="0" anchor="t">
            <a:normAutofit/>
          </a:bodyPr>
          <a:lstStyle/>
          <a:p>
            <a:pPr marL="342900" indent="-342900">
              <a:buFont typeface="Calibri" pitchFamily="2" charset="2"/>
              <a:buChar char="-"/>
            </a:pPr>
            <a:r>
              <a:rPr lang="en-US" dirty="0"/>
              <a:t>Shantanu Mahajan (Velocity)</a:t>
            </a:r>
          </a:p>
          <a:p>
            <a:pPr marL="342900" indent="-342900">
              <a:buClr>
                <a:srgbClr val="9E3611"/>
              </a:buClr>
              <a:buFont typeface="Calibri" pitchFamily="2" charset="2"/>
              <a:buChar char="-"/>
            </a:pPr>
            <a:r>
              <a:rPr lang="en-US" dirty="0"/>
              <a:t>Sr </a:t>
            </a:r>
            <a:r>
              <a:rPr lang="en-US" err="1"/>
              <a:t>Engg</a:t>
            </a:r>
            <a:r>
              <a:rPr lang="en-US"/>
              <a:t> DevOps </a:t>
            </a:r>
            <a:endParaRPr lang="en-US" dirty="0"/>
          </a:p>
        </p:txBody>
      </p:sp>
      <p:sp>
        <p:nvSpPr>
          <p:cNvPr id="4" name="Footer Placeholder 3">
            <a:extLst>
              <a:ext uri="{FF2B5EF4-FFF2-40B4-BE49-F238E27FC236}">
                <a16:creationId xmlns:a16="http://schemas.microsoft.com/office/drawing/2014/main" id="{9B4C27F2-0409-08CA-AAB1-2259417868AC}"/>
              </a:ext>
            </a:extLst>
          </p:cNvPr>
          <p:cNvSpPr>
            <a:spLocks noGrp="1"/>
          </p:cNvSpPr>
          <p:nvPr>
            <p:ph type="ftr" sz="quarter" idx="11"/>
          </p:nvPr>
        </p:nvSpPr>
        <p:spPr/>
        <p:txBody>
          <a:bodyPr/>
          <a:lstStyle/>
          <a:p>
            <a:r>
              <a:rPr lang="en-US"/>
              <a:t>by:- Shantanu Mahajan (Velocity)</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FDA3C-5302-6349-FDBC-BAE0234D6B48}"/>
              </a:ext>
            </a:extLst>
          </p:cNvPr>
          <p:cNvSpPr>
            <a:spLocks noGrp="1"/>
          </p:cNvSpPr>
          <p:nvPr>
            <p:ph type="title"/>
          </p:nvPr>
        </p:nvSpPr>
        <p:spPr/>
        <p:txBody>
          <a:bodyPr/>
          <a:lstStyle/>
          <a:p>
            <a:r>
              <a:rPr lang="en-US" dirty="0"/>
              <a:t>Monolithic vs microservices</a:t>
            </a:r>
            <a:endParaRPr lang="en-US" dirty="0">
              <a:latin typeface="Rockwell Condensed"/>
            </a:endParaRPr>
          </a:p>
        </p:txBody>
      </p:sp>
      <p:sp>
        <p:nvSpPr>
          <p:cNvPr id="3" name="Content Placeholder 2">
            <a:extLst>
              <a:ext uri="{FF2B5EF4-FFF2-40B4-BE49-F238E27FC236}">
                <a16:creationId xmlns:a16="http://schemas.microsoft.com/office/drawing/2014/main" id="{F80E3E32-692D-3EA9-7B03-B5D437A43BC8}"/>
              </a:ext>
            </a:extLst>
          </p:cNvPr>
          <p:cNvSpPr>
            <a:spLocks noGrp="1"/>
          </p:cNvSpPr>
          <p:nvPr>
            <p:ph idx="1"/>
          </p:nvPr>
        </p:nvSpPr>
        <p:spPr/>
        <p:txBody>
          <a:bodyPr vert="horz" lIns="91440" tIns="45720" rIns="91440" bIns="45720" rtlCol="0" anchor="t">
            <a:normAutofit/>
          </a:bodyPr>
          <a:lstStyle/>
          <a:p>
            <a:r>
              <a:rPr lang="en-US" dirty="0"/>
              <a:t>Consider an application with multiple features, all these features are developed by multiple developers and development teams sometimes.</a:t>
            </a:r>
          </a:p>
          <a:p>
            <a:pPr>
              <a:buClr>
                <a:srgbClr val="9E3611"/>
              </a:buClr>
            </a:pPr>
            <a:r>
              <a:rPr lang="en-US" dirty="0"/>
              <a:t>An application whenever developed and deployed follows multiple strategies.</a:t>
            </a:r>
          </a:p>
          <a:p>
            <a:pPr>
              <a:buClr>
                <a:srgbClr val="9E3611"/>
              </a:buClr>
            </a:pPr>
            <a:r>
              <a:rPr lang="en-US" dirty="0"/>
              <a:t>These strategies are implemented depending upon the requirement of clients.</a:t>
            </a:r>
          </a:p>
          <a:p>
            <a:pPr>
              <a:buClr>
                <a:srgbClr val="9E3611"/>
              </a:buClr>
            </a:pPr>
            <a:r>
              <a:rPr lang="en-US" dirty="0"/>
              <a:t>In case of monolithic architecture, all the features are developed and archived in a single package, also deployed as a single unit on a server.</a:t>
            </a:r>
          </a:p>
          <a:p>
            <a:pPr>
              <a:buClr>
                <a:srgbClr val="9E3611"/>
              </a:buClr>
            </a:pPr>
            <a:r>
              <a:rPr lang="en-US" dirty="0"/>
              <a:t>This being an older approach there are multiple disadvantages of adapting the monolithic architecture.</a:t>
            </a:r>
          </a:p>
          <a:p>
            <a:pPr>
              <a:buClr>
                <a:srgbClr val="9E3611"/>
              </a:buClr>
            </a:pPr>
            <a:r>
              <a:rPr lang="en-US" dirty="0"/>
              <a:t>Below are some of the disadvantages.</a:t>
            </a:r>
          </a:p>
        </p:txBody>
      </p:sp>
      <p:sp>
        <p:nvSpPr>
          <p:cNvPr id="4" name="Footer Placeholder 3">
            <a:extLst>
              <a:ext uri="{FF2B5EF4-FFF2-40B4-BE49-F238E27FC236}">
                <a16:creationId xmlns:a16="http://schemas.microsoft.com/office/drawing/2014/main" id="{8A6CFEDA-A690-16D9-C9D9-79AF3D13F51C}"/>
              </a:ext>
            </a:extLst>
          </p:cNvPr>
          <p:cNvSpPr>
            <a:spLocks noGrp="1"/>
          </p:cNvSpPr>
          <p:nvPr>
            <p:ph type="ftr" sz="quarter" idx="11"/>
          </p:nvPr>
        </p:nvSpPr>
        <p:spPr/>
        <p:txBody>
          <a:bodyPr/>
          <a:lstStyle/>
          <a:p>
            <a:r>
              <a:rPr lang="en-US"/>
              <a:t>by:- Shantanu Mahajan (Velocity)</a:t>
            </a:r>
          </a:p>
        </p:txBody>
      </p:sp>
    </p:spTree>
    <p:extLst>
      <p:ext uri="{BB962C8B-B14F-4D97-AF65-F5344CB8AC3E}">
        <p14:creationId xmlns:p14="http://schemas.microsoft.com/office/powerpoint/2010/main" val="3198878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874BB-47B7-A41F-F789-BE1972526DCB}"/>
              </a:ext>
            </a:extLst>
          </p:cNvPr>
          <p:cNvSpPr>
            <a:spLocks noGrp="1"/>
          </p:cNvSpPr>
          <p:nvPr>
            <p:ph type="title"/>
          </p:nvPr>
        </p:nvSpPr>
        <p:spPr/>
        <p:txBody>
          <a:bodyPr/>
          <a:lstStyle/>
          <a:p>
            <a:r>
              <a:rPr lang="en-US" dirty="0"/>
              <a:t>Disadvantages</a:t>
            </a:r>
          </a:p>
        </p:txBody>
      </p:sp>
      <p:sp>
        <p:nvSpPr>
          <p:cNvPr id="3" name="Content Placeholder 2">
            <a:extLst>
              <a:ext uri="{FF2B5EF4-FFF2-40B4-BE49-F238E27FC236}">
                <a16:creationId xmlns:a16="http://schemas.microsoft.com/office/drawing/2014/main" id="{6B494B68-50B4-D5EC-D1B4-05078E6A11D8}"/>
              </a:ext>
            </a:extLst>
          </p:cNvPr>
          <p:cNvSpPr>
            <a:spLocks noGrp="1"/>
          </p:cNvSpPr>
          <p:nvPr>
            <p:ph idx="1"/>
          </p:nvPr>
        </p:nvSpPr>
        <p:spPr/>
        <p:txBody>
          <a:bodyPr vert="horz" lIns="91440" tIns="45720" rIns="91440" bIns="45720" rtlCol="0" anchor="t">
            <a:normAutofit/>
          </a:bodyPr>
          <a:lstStyle/>
          <a:p>
            <a:pPr marL="457200" indent="-457200">
              <a:buAutoNum type="arabicPeriod"/>
            </a:pPr>
            <a:r>
              <a:rPr lang="en-US" dirty="0"/>
              <a:t>Dependency management.</a:t>
            </a:r>
          </a:p>
          <a:p>
            <a:pPr marL="457200" indent="-457200">
              <a:buClr>
                <a:srgbClr val="9E3611"/>
              </a:buClr>
              <a:buAutoNum type="arabicPeriod"/>
            </a:pPr>
            <a:r>
              <a:rPr lang="en-US" dirty="0"/>
              <a:t>Configuration of individual features is difficult.</a:t>
            </a:r>
          </a:p>
          <a:p>
            <a:pPr marL="457200" indent="-457200">
              <a:buClr>
                <a:srgbClr val="9E3611"/>
              </a:buClr>
              <a:buAutoNum type="arabicPeriod"/>
            </a:pPr>
            <a:r>
              <a:rPr lang="en-US" dirty="0"/>
              <a:t>Complex architecture</a:t>
            </a:r>
          </a:p>
          <a:p>
            <a:pPr marL="457200" indent="-457200">
              <a:buClr>
                <a:srgbClr val="9E3611"/>
              </a:buClr>
              <a:buAutoNum type="arabicPeriod"/>
            </a:pPr>
            <a:r>
              <a:rPr lang="en-US" dirty="0"/>
              <a:t>Features dependent and logically connected.</a:t>
            </a:r>
          </a:p>
          <a:p>
            <a:pPr marL="457200" indent="-457200">
              <a:buClr>
                <a:srgbClr val="9E3611"/>
              </a:buClr>
              <a:buAutoNum type="arabicPeriod"/>
            </a:pPr>
            <a:r>
              <a:rPr lang="en-US" dirty="0"/>
              <a:t>Individual scalability, optimization of resources for every feature is not possible</a:t>
            </a:r>
          </a:p>
          <a:p>
            <a:pPr marL="457200" indent="-457200">
              <a:buClr>
                <a:srgbClr val="9E3611"/>
              </a:buClr>
              <a:buAutoNum type="arabicPeriod"/>
            </a:pPr>
            <a:r>
              <a:rPr lang="en-US" dirty="0"/>
              <a:t>Complex application structure</a:t>
            </a:r>
          </a:p>
          <a:p>
            <a:pPr marL="0" indent="0">
              <a:buClr>
                <a:srgbClr val="9E3611"/>
              </a:buClr>
              <a:buNone/>
            </a:pPr>
            <a:endParaRPr lang="en-US" dirty="0"/>
          </a:p>
          <a:p>
            <a:pPr marL="0" indent="0">
              <a:buNone/>
            </a:pPr>
            <a:endParaRPr lang="en-US" dirty="0"/>
          </a:p>
          <a:p>
            <a:pPr marL="457200" indent="-457200">
              <a:buClr>
                <a:srgbClr val="9E3611"/>
              </a:buClr>
              <a:buAutoNum type="arabicPeriod"/>
            </a:pPr>
            <a:endParaRPr lang="en-US" dirty="0"/>
          </a:p>
        </p:txBody>
      </p:sp>
      <p:sp>
        <p:nvSpPr>
          <p:cNvPr id="4" name="Footer Placeholder 3">
            <a:extLst>
              <a:ext uri="{FF2B5EF4-FFF2-40B4-BE49-F238E27FC236}">
                <a16:creationId xmlns:a16="http://schemas.microsoft.com/office/drawing/2014/main" id="{B1A11FF4-B1D8-97FC-1B1B-6078F27D7DD1}"/>
              </a:ext>
            </a:extLst>
          </p:cNvPr>
          <p:cNvSpPr>
            <a:spLocks noGrp="1"/>
          </p:cNvSpPr>
          <p:nvPr>
            <p:ph type="ftr" sz="quarter" idx="11"/>
          </p:nvPr>
        </p:nvSpPr>
        <p:spPr/>
        <p:txBody>
          <a:bodyPr/>
          <a:lstStyle/>
          <a:p>
            <a:r>
              <a:rPr lang="en-US"/>
              <a:t>by:- Shantanu Mahajan (Velocity)</a:t>
            </a:r>
          </a:p>
        </p:txBody>
      </p:sp>
    </p:spTree>
    <p:extLst>
      <p:ext uri="{BB962C8B-B14F-4D97-AF65-F5344CB8AC3E}">
        <p14:creationId xmlns:p14="http://schemas.microsoft.com/office/powerpoint/2010/main" val="1618427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descr="A diagram of a computer&#10;&#10;Description automatically generated">
            <a:extLst>
              <a:ext uri="{FF2B5EF4-FFF2-40B4-BE49-F238E27FC236}">
                <a16:creationId xmlns:a16="http://schemas.microsoft.com/office/drawing/2014/main" id="{C6D9FD41-0D6F-62B9-74D5-91167C631920}"/>
              </a:ext>
            </a:extLst>
          </p:cNvPr>
          <p:cNvPicPr>
            <a:picLocks noChangeAspect="1"/>
          </p:cNvPicPr>
          <p:nvPr/>
        </p:nvPicPr>
        <p:blipFill>
          <a:blip r:embed="rId2"/>
          <a:stretch>
            <a:fillRect/>
          </a:stretch>
        </p:blipFill>
        <p:spPr>
          <a:xfrm>
            <a:off x="1521041" y="498335"/>
            <a:ext cx="8765218" cy="5920517"/>
          </a:xfrm>
          <a:prstGeom prst="rect">
            <a:avLst/>
          </a:prstGeom>
        </p:spPr>
      </p:pic>
      <p:sp>
        <p:nvSpPr>
          <p:cNvPr id="2" name="Footer Placeholder 1">
            <a:extLst>
              <a:ext uri="{FF2B5EF4-FFF2-40B4-BE49-F238E27FC236}">
                <a16:creationId xmlns:a16="http://schemas.microsoft.com/office/drawing/2014/main" id="{AE709F21-D612-1802-0686-84D59E4004B1}"/>
              </a:ext>
            </a:extLst>
          </p:cNvPr>
          <p:cNvSpPr>
            <a:spLocks noGrp="1"/>
          </p:cNvSpPr>
          <p:nvPr>
            <p:ph type="ftr" sz="quarter" idx="11"/>
          </p:nvPr>
        </p:nvSpPr>
        <p:spPr/>
        <p:txBody>
          <a:bodyPr/>
          <a:lstStyle/>
          <a:p>
            <a:r>
              <a:rPr lang="en-US"/>
              <a:t>by:- Shantanu Mahajan (Velocity)</a:t>
            </a:r>
          </a:p>
        </p:txBody>
      </p:sp>
    </p:spTree>
    <p:extLst>
      <p:ext uri="{BB962C8B-B14F-4D97-AF65-F5344CB8AC3E}">
        <p14:creationId xmlns:p14="http://schemas.microsoft.com/office/powerpoint/2010/main" val="270403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D37A-5EA2-1B91-526F-58E78010CF48}"/>
              </a:ext>
            </a:extLst>
          </p:cNvPr>
          <p:cNvSpPr>
            <a:spLocks noGrp="1"/>
          </p:cNvSpPr>
          <p:nvPr>
            <p:ph type="title"/>
          </p:nvPr>
        </p:nvSpPr>
        <p:spPr/>
        <p:txBody>
          <a:bodyPr/>
          <a:lstStyle/>
          <a:p>
            <a:r>
              <a:rPr lang="en-US" dirty="0"/>
              <a:t>microservices</a:t>
            </a:r>
          </a:p>
        </p:txBody>
      </p:sp>
      <p:sp>
        <p:nvSpPr>
          <p:cNvPr id="3" name="Content Placeholder 2">
            <a:extLst>
              <a:ext uri="{FF2B5EF4-FFF2-40B4-BE49-F238E27FC236}">
                <a16:creationId xmlns:a16="http://schemas.microsoft.com/office/drawing/2014/main" id="{B595A2D8-A970-127B-7B65-7207C3E1F3D2}"/>
              </a:ext>
            </a:extLst>
          </p:cNvPr>
          <p:cNvSpPr>
            <a:spLocks noGrp="1"/>
          </p:cNvSpPr>
          <p:nvPr>
            <p:ph idx="1"/>
          </p:nvPr>
        </p:nvSpPr>
        <p:spPr/>
        <p:txBody>
          <a:bodyPr vert="horz" lIns="91440" tIns="45720" rIns="91440" bIns="45720" rtlCol="0" anchor="t">
            <a:normAutofit/>
          </a:bodyPr>
          <a:lstStyle/>
          <a:p>
            <a:r>
              <a:rPr lang="en-US" dirty="0"/>
              <a:t>In microservices instead of developing and deploying application as a single package, for each feature the application is developed and deployed </a:t>
            </a:r>
            <a:r>
              <a:rPr lang="en-US" dirty="0" err="1"/>
              <a:t>seperately</a:t>
            </a:r>
            <a:r>
              <a:rPr lang="en-US" dirty="0"/>
              <a:t> as a single service called as micro-service.</a:t>
            </a:r>
          </a:p>
          <a:p>
            <a:pPr>
              <a:buClr>
                <a:srgbClr val="9E3611"/>
              </a:buClr>
            </a:pPr>
            <a:r>
              <a:rPr lang="en-US" dirty="0"/>
              <a:t>Microservice is a development and deployment architecture multiple microservices and developed and deployed and they are working In a loosely coupled manner.</a:t>
            </a:r>
          </a:p>
          <a:p>
            <a:pPr>
              <a:buClr>
                <a:srgbClr val="9E3611"/>
              </a:buClr>
            </a:pPr>
            <a:r>
              <a:rPr lang="en-US" dirty="0"/>
              <a:t>Here independent features running are connected via API and can be accessed through API gateway</a:t>
            </a:r>
          </a:p>
          <a:p>
            <a:pPr>
              <a:buClr>
                <a:srgbClr val="9E3611"/>
              </a:buClr>
            </a:pPr>
            <a:r>
              <a:rPr lang="en-US" dirty="0"/>
              <a:t>Here as the microservice can work independently so we can deploy them independently with own deployment config, server and DB config.</a:t>
            </a:r>
          </a:p>
          <a:p>
            <a:pPr>
              <a:buClr>
                <a:srgbClr val="9E3611"/>
              </a:buClr>
            </a:pPr>
            <a:r>
              <a:rPr lang="en-US" dirty="0"/>
              <a:t>Microservices are deployed in loosely isolated containers.</a:t>
            </a:r>
          </a:p>
        </p:txBody>
      </p:sp>
      <p:sp>
        <p:nvSpPr>
          <p:cNvPr id="4" name="Footer Placeholder 3">
            <a:extLst>
              <a:ext uri="{FF2B5EF4-FFF2-40B4-BE49-F238E27FC236}">
                <a16:creationId xmlns:a16="http://schemas.microsoft.com/office/drawing/2014/main" id="{F7EEDF1B-AE1E-549B-1F1A-51A6F2DAC478}"/>
              </a:ext>
            </a:extLst>
          </p:cNvPr>
          <p:cNvSpPr>
            <a:spLocks noGrp="1"/>
          </p:cNvSpPr>
          <p:nvPr>
            <p:ph type="ftr" sz="quarter" idx="11"/>
          </p:nvPr>
        </p:nvSpPr>
        <p:spPr/>
        <p:txBody>
          <a:bodyPr/>
          <a:lstStyle/>
          <a:p>
            <a:r>
              <a:rPr lang="en-US"/>
              <a:t>by:- Shantanu Mahajan (Velocity)</a:t>
            </a:r>
          </a:p>
        </p:txBody>
      </p:sp>
    </p:spTree>
    <p:extLst>
      <p:ext uri="{BB962C8B-B14F-4D97-AF65-F5344CB8AC3E}">
        <p14:creationId xmlns:p14="http://schemas.microsoft.com/office/powerpoint/2010/main" val="798288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35C40-DE81-AB3A-55CD-FACB582BBCA1}"/>
              </a:ext>
            </a:extLst>
          </p:cNvPr>
          <p:cNvSpPr>
            <a:spLocks noGrp="1"/>
          </p:cNvSpPr>
          <p:nvPr>
            <p:ph type="title"/>
          </p:nvPr>
        </p:nvSpPr>
        <p:spPr/>
        <p:txBody>
          <a:bodyPr/>
          <a:lstStyle/>
          <a:p>
            <a:r>
              <a:rPr lang="en-US" dirty="0"/>
              <a:t>Advantages of microservices</a:t>
            </a:r>
          </a:p>
        </p:txBody>
      </p:sp>
      <p:sp>
        <p:nvSpPr>
          <p:cNvPr id="3" name="Content Placeholder 2">
            <a:extLst>
              <a:ext uri="{FF2B5EF4-FFF2-40B4-BE49-F238E27FC236}">
                <a16:creationId xmlns:a16="http://schemas.microsoft.com/office/drawing/2014/main" id="{A84DAF07-CDC2-5EC5-97F9-C1A804D4BD41}"/>
              </a:ext>
            </a:extLst>
          </p:cNvPr>
          <p:cNvSpPr>
            <a:spLocks noGrp="1"/>
          </p:cNvSpPr>
          <p:nvPr>
            <p:ph idx="1"/>
          </p:nvPr>
        </p:nvSpPr>
        <p:spPr/>
        <p:txBody>
          <a:bodyPr vert="horz" lIns="91440" tIns="45720" rIns="91440" bIns="45720" rtlCol="0" anchor="t">
            <a:normAutofit/>
          </a:bodyPr>
          <a:lstStyle/>
          <a:p>
            <a:r>
              <a:rPr lang="en-US" sz="1700" dirty="0">
                <a:solidFill>
                  <a:srgbClr val="171321"/>
                </a:solidFill>
                <a:ea typeface="+mn-lt"/>
                <a:cs typeface="+mn-lt"/>
                <a:hlinkClick r:id="rId2"/>
              </a:rPr>
              <a:t>https://about.gitlab.com/blog/2022/09/29/what-are-the-benefits-of-a-microservices-architecture/</a:t>
            </a:r>
            <a:endParaRPr lang="en-US">
              <a:solidFill>
                <a:srgbClr val="000000"/>
              </a:solidFill>
              <a:ea typeface="+mn-lt"/>
              <a:cs typeface="+mn-lt"/>
            </a:endParaRPr>
          </a:p>
          <a:p>
            <a:pPr>
              <a:buClr>
                <a:srgbClr val="9E3611"/>
              </a:buClr>
            </a:pPr>
            <a:endParaRPr lang="en-US" sz="1700" dirty="0">
              <a:solidFill>
                <a:srgbClr val="171321"/>
              </a:solidFill>
            </a:endParaRPr>
          </a:p>
          <a:p>
            <a:pPr>
              <a:buClr>
                <a:srgbClr val="9E3611"/>
              </a:buClr>
            </a:pPr>
            <a:r>
              <a:rPr lang="en-US" sz="1700" dirty="0">
                <a:solidFill>
                  <a:srgbClr val="171321"/>
                </a:solidFill>
                <a:ea typeface="+mn-lt"/>
                <a:cs typeface="+mn-lt"/>
              </a:rPr>
              <a:t>https://www.javatpoint.com/advantges-and-disadvantages-of-microservices</a:t>
            </a:r>
            <a:endParaRPr lang="en-US" sz="1700" dirty="0">
              <a:solidFill>
                <a:srgbClr val="171321"/>
              </a:solidFill>
            </a:endParaRPr>
          </a:p>
        </p:txBody>
      </p:sp>
      <p:sp>
        <p:nvSpPr>
          <p:cNvPr id="4" name="Footer Placeholder 3">
            <a:extLst>
              <a:ext uri="{FF2B5EF4-FFF2-40B4-BE49-F238E27FC236}">
                <a16:creationId xmlns:a16="http://schemas.microsoft.com/office/drawing/2014/main" id="{BAF7E4AB-CBE9-01C7-60C0-B246CA31AE63}"/>
              </a:ext>
            </a:extLst>
          </p:cNvPr>
          <p:cNvSpPr>
            <a:spLocks noGrp="1"/>
          </p:cNvSpPr>
          <p:nvPr>
            <p:ph type="ftr" sz="quarter" idx="11"/>
          </p:nvPr>
        </p:nvSpPr>
        <p:spPr/>
        <p:txBody>
          <a:bodyPr/>
          <a:lstStyle/>
          <a:p>
            <a:r>
              <a:rPr lang="en-US"/>
              <a:t>by:- Shantanu Mahajan (Velocity)</a:t>
            </a:r>
          </a:p>
        </p:txBody>
      </p:sp>
    </p:spTree>
    <p:extLst>
      <p:ext uri="{BB962C8B-B14F-4D97-AF65-F5344CB8AC3E}">
        <p14:creationId xmlns:p14="http://schemas.microsoft.com/office/powerpoint/2010/main" val="3736708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D998D-3C65-60FC-ADE9-552D248DDEA5}"/>
              </a:ext>
            </a:extLst>
          </p:cNvPr>
          <p:cNvSpPr>
            <a:spLocks noGrp="1"/>
          </p:cNvSpPr>
          <p:nvPr>
            <p:ph type="title"/>
          </p:nvPr>
        </p:nvSpPr>
        <p:spPr/>
        <p:txBody>
          <a:bodyPr/>
          <a:lstStyle/>
          <a:p>
            <a:r>
              <a:rPr lang="en-US" dirty="0">
                <a:latin typeface="Rockwell Condensed"/>
              </a:rPr>
              <a:t>Kubernetes</a:t>
            </a:r>
          </a:p>
        </p:txBody>
      </p:sp>
      <p:sp>
        <p:nvSpPr>
          <p:cNvPr id="3" name="Content Placeholder 2">
            <a:extLst>
              <a:ext uri="{FF2B5EF4-FFF2-40B4-BE49-F238E27FC236}">
                <a16:creationId xmlns:a16="http://schemas.microsoft.com/office/drawing/2014/main" id="{F64B1675-6522-C287-FD92-8BC89C73A50B}"/>
              </a:ext>
            </a:extLst>
          </p:cNvPr>
          <p:cNvSpPr>
            <a:spLocks noGrp="1"/>
          </p:cNvSpPr>
          <p:nvPr>
            <p:ph idx="1"/>
          </p:nvPr>
        </p:nvSpPr>
        <p:spPr>
          <a:xfrm>
            <a:off x="1069848" y="1961548"/>
            <a:ext cx="10058400" cy="4210652"/>
          </a:xfrm>
        </p:spPr>
        <p:txBody>
          <a:bodyPr vert="horz" lIns="91440" tIns="45720" rIns="91440" bIns="45720" rtlCol="0" anchor="t">
            <a:normAutofit/>
          </a:bodyPr>
          <a:lstStyle/>
          <a:p>
            <a:r>
              <a:rPr lang="en-US" dirty="0">
                <a:solidFill>
                  <a:srgbClr val="222222"/>
                </a:solidFill>
                <a:ea typeface="+mn-lt"/>
                <a:cs typeface="+mn-lt"/>
              </a:rPr>
              <a:t>Kubernetes is a portable, extensible, open source platform for managing containerized workloads and services, that facilitates both declarative configuration and automation.</a:t>
            </a:r>
            <a:endParaRPr lang="en-US" dirty="0">
              <a:solidFill>
                <a:srgbClr val="000000"/>
              </a:solidFill>
              <a:ea typeface="+mn-lt"/>
              <a:cs typeface="+mn-lt"/>
            </a:endParaRPr>
          </a:p>
          <a:p>
            <a:pPr>
              <a:buClr>
                <a:srgbClr val="9E3611"/>
              </a:buClr>
            </a:pPr>
            <a:r>
              <a:rPr lang="en-US" dirty="0">
                <a:solidFill>
                  <a:srgbClr val="222222"/>
                </a:solidFill>
                <a:ea typeface="+mn-lt"/>
                <a:cs typeface="+mn-lt"/>
              </a:rPr>
              <a:t>In the micro services architecture we need to manage multiple containers, scale them as per requirement, create clusters which is impossible to do manually.</a:t>
            </a:r>
          </a:p>
          <a:p>
            <a:pPr>
              <a:buClr>
                <a:srgbClr val="9E3611"/>
              </a:buClr>
            </a:pPr>
            <a:r>
              <a:rPr lang="en-US" dirty="0">
                <a:solidFill>
                  <a:srgbClr val="222222"/>
                </a:solidFill>
                <a:ea typeface="+mn-lt"/>
                <a:cs typeface="+mn-lt"/>
              </a:rPr>
              <a:t>Hence we need a tool for it.</a:t>
            </a:r>
          </a:p>
          <a:p>
            <a:pPr>
              <a:buClr>
                <a:srgbClr val="9E3611"/>
              </a:buClr>
            </a:pPr>
            <a:r>
              <a:rPr lang="en-US" dirty="0">
                <a:solidFill>
                  <a:srgbClr val="222222"/>
                </a:solidFill>
                <a:ea typeface="+mn-lt"/>
                <a:cs typeface="+mn-lt"/>
              </a:rPr>
              <a:t>Such tool which servers the purpose is k8s.</a:t>
            </a:r>
          </a:p>
        </p:txBody>
      </p:sp>
      <p:sp>
        <p:nvSpPr>
          <p:cNvPr id="4" name="Footer Placeholder 3">
            <a:extLst>
              <a:ext uri="{FF2B5EF4-FFF2-40B4-BE49-F238E27FC236}">
                <a16:creationId xmlns:a16="http://schemas.microsoft.com/office/drawing/2014/main" id="{620422A2-0754-95FF-2DC4-1E4BE8E926B6}"/>
              </a:ext>
            </a:extLst>
          </p:cNvPr>
          <p:cNvSpPr>
            <a:spLocks noGrp="1"/>
          </p:cNvSpPr>
          <p:nvPr>
            <p:ph type="ftr" sz="quarter" idx="11"/>
          </p:nvPr>
        </p:nvSpPr>
        <p:spPr/>
        <p:txBody>
          <a:bodyPr/>
          <a:lstStyle/>
          <a:p>
            <a:r>
              <a:rPr lang="en-US"/>
              <a:t>by:- Shantanu Mahajan (Velocity)</a:t>
            </a:r>
          </a:p>
        </p:txBody>
      </p:sp>
    </p:spTree>
    <p:extLst>
      <p:ext uri="{BB962C8B-B14F-4D97-AF65-F5344CB8AC3E}">
        <p14:creationId xmlns:p14="http://schemas.microsoft.com/office/powerpoint/2010/main" val="1630991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B834A-FA4E-C796-8897-94C11857856A}"/>
              </a:ext>
            </a:extLst>
          </p:cNvPr>
          <p:cNvSpPr>
            <a:spLocks noGrp="1"/>
          </p:cNvSpPr>
          <p:nvPr>
            <p:ph type="title"/>
          </p:nvPr>
        </p:nvSpPr>
        <p:spPr>
          <a:xfrm>
            <a:off x="1069848" y="484632"/>
            <a:ext cx="10058400" cy="1097792"/>
          </a:xfrm>
        </p:spPr>
        <p:txBody>
          <a:bodyPr/>
          <a:lstStyle/>
          <a:p>
            <a:r>
              <a:rPr lang="en-US" sz="4400" dirty="0">
                <a:solidFill>
                  <a:srgbClr val="222222"/>
                </a:solidFill>
              </a:rPr>
              <a:t>Why you need Kubernetes and what it can do</a:t>
            </a:r>
            <a:endParaRPr lang="en-US" sz="4400" dirty="0"/>
          </a:p>
          <a:p>
            <a:endParaRPr lang="en-US" dirty="0"/>
          </a:p>
        </p:txBody>
      </p:sp>
      <p:sp>
        <p:nvSpPr>
          <p:cNvPr id="3" name="Content Placeholder 2">
            <a:extLst>
              <a:ext uri="{FF2B5EF4-FFF2-40B4-BE49-F238E27FC236}">
                <a16:creationId xmlns:a16="http://schemas.microsoft.com/office/drawing/2014/main" id="{238CE27D-02CB-7A35-9E5C-68A49991C65B}"/>
              </a:ext>
            </a:extLst>
          </p:cNvPr>
          <p:cNvSpPr>
            <a:spLocks noGrp="1"/>
          </p:cNvSpPr>
          <p:nvPr>
            <p:ph idx="1"/>
          </p:nvPr>
        </p:nvSpPr>
        <p:spPr>
          <a:xfrm>
            <a:off x="1069848" y="1236849"/>
            <a:ext cx="10058400" cy="4935351"/>
          </a:xfrm>
        </p:spPr>
        <p:txBody>
          <a:bodyPr vert="horz" lIns="91440" tIns="45720" rIns="91440" bIns="45720" rtlCol="0" anchor="t">
            <a:normAutofit/>
          </a:bodyPr>
          <a:lstStyle/>
          <a:p>
            <a:r>
              <a:rPr lang="en-US" dirty="0">
                <a:solidFill>
                  <a:srgbClr val="222222"/>
                </a:solidFill>
                <a:ea typeface="+mn-lt"/>
                <a:cs typeface="+mn-lt"/>
              </a:rPr>
              <a:t>Containers are a good way to bundle and run your applications. In a production environment, you need to manage the containers that run the applications and ensure that there is no downtime. </a:t>
            </a:r>
            <a:endParaRPr lang="en-US" dirty="0">
              <a:solidFill>
                <a:srgbClr val="000000"/>
              </a:solidFill>
              <a:ea typeface="+mn-lt"/>
              <a:cs typeface="+mn-lt"/>
            </a:endParaRPr>
          </a:p>
          <a:p>
            <a:pPr>
              <a:buClr>
                <a:srgbClr val="9E3611"/>
              </a:buClr>
            </a:pPr>
            <a:r>
              <a:rPr lang="en-US" dirty="0">
                <a:solidFill>
                  <a:srgbClr val="222222"/>
                </a:solidFill>
                <a:ea typeface="+mn-lt"/>
                <a:cs typeface="+mn-lt"/>
              </a:rPr>
              <a:t>For example, if a container goes down, another container needs to start. Wouldn't it be easier if this behavior was handled by a system?</a:t>
            </a:r>
          </a:p>
          <a:p>
            <a:pPr>
              <a:buClr>
                <a:srgbClr val="9E3611"/>
              </a:buClr>
            </a:pPr>
            <a:r>
              <a:rPr lang="en-US" dirty="0">
                <a:solidFill>
                  <a:srgbClr val="222222"/>
                </a:solidFill>
                <a:ea typeface="+mn-lt"/>
                <a:cs typeface="+mn-lt"/>
              </a:rPr>
              <a:t>That's how Kubernetes comes to the rescue! Kubernetes provides you with a framework to run distributed systems resiliently. </a:t>
            </a:r>
          </a:p>
          <a:p>
            <a:pPr>
              <a:buClr>
                <a:srgbClr val="9E3611"/>
              </a:buClr>
            </a:pPr>
            <a:r>
              <a:rPr lang="en-US" dirty="0">
                <a:solidFill>
                  <a:srgbClr val="222222"/>
                </a:solidFill>
                <a:ea typeface="+mn-lt"/>
                <a:cs typeface="+mn-lt"/>
              </a:rPr>
              <a:t>It takes care of scaling and failover for your application, provides deployment patterns, and more.</a:t>
            </a:r>
          </a:p>
          <a:p>
            <a:pPr>
              <a:buClr>
                <a:srgbClr val="9E3611"/>
              </a:buClr>
            </a:pPr>
            <a:r>
              <a:rPr lang="en-US" dirty="0">
                <a:solidFill>
                  <a:srgbClr val="222222"/>
                </a:solidFill>
                <a:ea typeface="+mn-lt"/>
                <a:cs typeface="+mn-lt"/>
              </a:rPr>
              <a:t> For example: Kubernetes can easily manage a canary deployment for your system.</a:t>
            </a:r>
            <a:endParaRPr lang="en-US">
              <a:solidFill>
                <a:srgbClr val="222222"/>
              </a:solidFill>
            </a:endParaRPr>
          </a:p>
        </p:txBody>
      </p:sp>
      <p:sp>
        <p:nvSpPr>
          <p:cNvPr id="4" name="Footer Placeholder 3">
            <a:extLst>
              <a:ext uri="{FF2B5EF4-FFF2-40B4-BE49-F238E27FC236}">
                <a16:creationId xmlns:a16="http://schemas.microsoft.com/office/drawing/2014/main" id="{5E119100-9BFA-11E7-5969-5E0847D8E476}"/>
              </a:ext>
            </a:extLst>
          </p:cNvPr>
          <p:cNvSpPr>
            <a:spLocks noGrp="1"/>
          </p:cNvSpPr>
          <p:nvPr>
            <p:ph type="ftr" sz="quarter" idx="11"/>
          </p:nvPr>
        </p:nvSpPr>
        <p:spPr/>
        <p:txBody>
          <a:bodyPr/>
          <a:lstStyle/>
          <a:p>
            <a:r>
              <a:rPr lang="en-US"/>
              <a:t>by:- Shantanu Mahajan (Velocity)</a:t>
            </a:r>
          </a:p>
        </p:txBody>
      </p:sp>
    </p:spTree>
    <p:extLst>
      <p:ext uri="{BB962C8B-B14F-4D97-AF65-F5344CB8AC3E}">
        <p14:creationId xmlns:p14="http://schemas.microsoft.com/office/powerpoint/2010/main" val="3897300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7BFEA-5CAD-D4BC-EA25-52C7B11FA664}"/>
              </a:ext>
            </a:extLst>
          </p:cNvPr>
          <p:cNvSpPr>
            <a:spLocks noGrp="1"/>
          </p:cNvSpPr>
          <p:nvPr>
            <p:ph type="title"/>
          </p:nvPr>
        </p:nvSpPr>
        <p:spPr/>
        <p:txBody>
          <a:bodyPr/>
          <a:lstStyle/>
          <a:p>
            <a:r>
              <a:rPr lang="en-US" dirty="0"/>
              <a:t>Features of k8s</a:t>
            </a:r>
          </a:p>
        </p:txBody>
      </p:sp>
      <p:sp>
        <p:nvSpPr>
          <p:cNvPr id="3" name="Content Placeholder 2">
            <a:extLst>
              <a:ext uri="{FF2B5EF4-FFF2-40B4-BE49-F238E27FC236}">
                <a16:creationId xmlns:a16="http://schemas.microsoft.com/office/drawing/2014/main" id="{866A82CB-F2D5-A64E-A822-4C7D3B416D7D}"/>
              </a:ext>
            </a:extLst>
          </p:cNvPr>
          <p:cNvSpPr>
            <a:spLocks noGrp="1"/>
          </p:cNvSpPr>
          <p:nvPr>
            <p:ph idx="1"/>
          </p:nvPr>
        </p:nvSpPr>
        <p:spPr/>
        <p:txBody>
          <a:bodyPr vert="horz" lIns="91440" tIns="45720" rIns="91440" bIns="45720" rtlCol="0" anchor="t">
            <a:normAutofit lnSpcReduction="10000"/>
          </a:bodyPr>
          <a:lstStyle/>
          <a:p>
            <a:r>
              <a:rPr lang="en-US" dirty="0"/>
              <a:t>Orchestration</a:t>
            </a:r>
          </a:p>
          <a:p>
            <a:pPr>
              <a:buClr>
                <a:srgbClr val="9E3611"/>
              </a:buClr>
            </a:pPr>
            <a:r>
              <a:rPr lang="en-US" dirty="0"/>
              <a:t>Autoscaling</a:t>
            </a:r>
          </a:p>
          <a:p>
            <a:pPr>
              <a:buClr>
                <a:srgbClr val="9E3611"/>
              </a:buClr>
            </a:pPr>
            <a:r>
              <a:rPr lang="en-US"/>
              <a:t>Auto-healing</a:t>
            </a:r>
            <a:endParaRPr lang="en-US" dirty="0"/>
          </a:p>
          <a:p>
            <a:pPr>
              <a:buClr>
                <a:srgbClr val="9E3611"/>
              </a:buClr>
            </a:pPr>
            <a:r>
              <a:rPr lang="en-US"/>
              <a:t>Load balancing</a:t>
            </a:r>
            <a:endParaRPr lang="en-US" dirty="0"/>
          </a:p>
          <a:p>
            <a:pPr>
              <a:buClr>
                <a:srgbClr val="9E3611"/>
              </a:buClr>
            </a:pPr>
            <a:r>
              <a:rPr lang="en-US"/>
              <a:t>Platform independent</a:t>
            </a:r>
          </a:p>
          <a:p>
            <a:pPr>
              <a:buClr>
                <a:srgbClr val="9E3611"/>
              </a:buClr>
            </a:pPr>
            <a:r>
              <a:rPr lang="en-US" dirty="0"/>
              <a:t>Provides high availability and fault tolerance</a:t>
            </a:r>
          </a:p>
          <a:p>
            <a:pPr>
              <a:buClr>
                <a:srgbClr val="9E3611"/>
              </a:buClr>
            </a:pPr>
            <a:r>
              <a:rPr lang="en-US" dirty="0"/>
              <a:t>Automated rollout and Rollback</a:t>
            </a:r>
          </a:p>
          <a:p>
            <a:pPr>
              <a:buClr>
                <a:srgbClr val="9E3611"/>
              </a:buClr>
            </a:pPr>
            <a:r>
              <a:rPr lang="en-US" dirty="0"/>
              <a:t>Monitoring</a:t>
            </a:r>
          </a:p>
          <a:p>
            <a:pPr>
              <a:buClr>
                <a:srgbClr val="9E3611"/>
              </a:buClr>
            </a:pPr>
            <a:r>
              <a:rPr lang="en-US" dirty="0"/>
              <a:t>Scheduling</a:t>
            </a:r>
          </a:p>
          <a:p>
            <a:pPr>
              <a:buClr>
                <a:srgbClr val="9E3611"/>
              </a:buClr>
            </a:pPr>
            <a:r>
              <a:rPr lang="en-US" dirty="0">
                <a:ea typeface="+mn-lt"/>
                <a:cs typeface="+mn-lt"/>
              </a:rPr>
              <a:t>https://kubernetes.io/docs/concepts/overview/</a:t>
            </a:r>
            <a:endParaRPr lang="en-US" dirty="0"/>
          </a:p>
          <a:p>
            <a:pPr>
              <a:buClr>
                <a:srgbClr val="9E3611"/>
              </a:buClr>
            </a:pPr>
            <a:endParaRPr lang="en-US" dirty="0"/>
          </a:p>
        </p:txBody>
      </p:sp>
      <p:sp>
        <p:nvSpPr>
          <p:cNvPr id="4" name="Footer Placeholder 3">
            <a:extLst>
              <a:ext uri="{FF2B5EF4-FFF2-40B4-BE49-F238E27FC236}">
                <a16:creationId xmlns:a16="http://schemas.microsoft.com/office/drawing/2014/main" id="{1337EA4A-B060-B4C3-879E-A3D5354DF023}"/>
              </a:ext>
            </a:extLst>
          </p:cNvPr>
          <p:cNvSpPr>
            <a:spLocks noGrp="1"/>
          </p:cNvSpPr>
          <p:nvPr>
            <p:ph type="ftr" sz="quarter" idx="11"/>
          </p:nvPr>
        </p:nvSpPr>
        <p:spPr/>
        <p:txBody>
          <a:bodyPr/>
          <a:lstStyle/>
          <a:p>
            <a:r>
              <a:rPr lang="en-US"/>
              <a:t>by:- Shantanu Mahajan (Velocity)</a:t>
            </a:r>
          </a:p>
        </p:txBody>
      </p:sp>
    </p:spTree>
    <p:extLst>
      <p:ext uri="{BB962C8B-B14F-4D97-AF65-F5344CB8AC3E}">
        <p14:creationId xmlns:p14="http://schemas.microsoft.com/office/powerpoint/2010/main" val="1554262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329EC-072F-1A39-77C7-20FCD3C5609F}"/>
              </a:ext>
            </a:extLst>
          </p:cNvPr>
          <p:cNvSpPr>
            <a:spLocks noGrp="1"/>
          </p:cNvSpPr>
          <p:nvPr>
            <p:ph type="title"/>
          </p:nvPr>
        </p:nvSpPr>
        <p:spPr/>
        <p:txBody>
          <a:bodyPr/>
          <a:lstStyle/>
          <a:p>
            <a:r>
              <a:rPr lang="en-US"/>
              <a:t>Architecture</a:t>
            </a:r>
            <a:r>
              <a:rPr lang="en-US" dirty="0"/>
              <a:t> of k8s</a:t>
            </a:r>
          </a:p>
        </p:txBody>
      </p:sp>
      <p:pic>
        <p:nvPicPr>
          <p:cNvPr id="4" name="Content Placeholder 3" descr="A diagram of a cloud server&#10;&#10;Description automatically generated">
            <a:extLst>
              <a:ext uri="{FF2B5EF4-FFF2-40B4-BE49-F238E27FC236}">
                <a16:creationId xmlns:a16="http://schemas.microsoft.com/office/drawing/2014/main" id="{2B673EEC-3347-4C14-F4F0-943F857F63EA}"/>
              </a:ext>
            </a:extLst>
          </p:cNvPr>
          <p:cNvPicPr>
            <a:picLocks noGrp="1" noChangeAspect="1"/>
          </p:cNvPicPr>
          <p:nvPr>
            <p:ph idx="1"/>
          </p:nvPr>
        </p:nvPicPr>
        <p:blipFill>
          <a:blip r:embed="rId2"/>
          <a:stretch>
            <a:fillRect/>
          </a:stretch>
        </p:blipFill>
        <p:spPr>
          <a:xfrm>
            <a:off x="1465948" y="2030821"/>
            <a:ext cx="8669387" cy="4050792"/>
          </a:xfrm>
        </p:spPr>
      </p:pic>
      <p:sp>
        <p:nvSpPr>
          <p:cNvPr id="3" name="Footer Placeholder 2">
            <a:extLst>
              <a:ext uri="{FF2B5EF4-FFF2-40B4-BE49-F238E27FC236}">
                <a16:creationId xmlns:a16="http://schemas.microsoft.com/office/drawing/2014/main" id="{880D8A45-3CD1-C310-BF16-DD749699D27A}"/>
              </a:ext>
            </a:extLst>
          </p:cNvPr>
          <p:cNvSpPr>
            <a:spLocks noGrp="1"/>
          </p:cNvSpPr>
          <p:nvPr>
            <p:ph type="ftr" sz="quarter" idx="11"/>
          </p:nvPr>
        </p:nvSpPr>
        <p:spPr/>
        <p:txBody>
          <a:bodyPr/>
          <a:lstStyle/>
          <a:p>
            <a:r>
              <a:rPr lang="en-US"/>
              <a:t>by:- Shantanu Mahajan (Velocity)</a:t>
            </a:r>
          </a:p>
        </p:txBody>
      </p:sp>
    </p:spTree>
    <p:extLst>
      <p:ext uri="{BB962C8B-B14F-4D97-AF65-F5344CB8AC3E}">
        <p14:creationId xmlns:p14="http://schemas.microsoft.com/office/powerpoint/2010/main" val="2368191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3CE313A-932C-FF66-EA99-A3C5C0874274}"/>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p>
        </p:txBody>
      </p:sp>
      <p:sp>
        <p:nvSpPr>
          <p:cNvPr id="7" name="TextBox 6">
            <a:extLst>
              <a:ext uri="{FF2B5EF4-FFF2-40B4-BE49-F238E27FC236}">
                <a16:creationId xmlns:a16="http://schemas.microsoft.com/office/drawing/2014/main" id="{1C612931-09E8-0ACB-679B-42C409A71F56}"/>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p>
        </p:txBody>
      </p:sp>
      <p:pic>
        <p:nvPicPr>
          <p:cNvPr id="8" name="Picture 7" descr="A diagram of a computer&#10;&#10;Description automatically generated">
            <a:extLst>
              <a:ext uri="{FF2B5EF4-FFF2-40B4-BE49-F238E27FC236}">
                <a16:creationId xmlns:a16="http://schemas.microsoft.com/office/drawing/2014/main" id="{8C29B493-309F-ECE0-A53C-F652A2706ED4}"/>
              </a:ext>
            </a:extLst>
          </p:cNvPr>
          <p:cNvPicPr>
            <a:picLocks noChangeAspect="1"/>
          </p:cNvPicPr>
          <p:nvPr/>
        </p:nvPicPr>
        <p:blipFill>
          <a:blip r:embed="rId2"/>
          <a:stretch>
            <a:fillRect/>
          </a:stretch>
        </p:blipFill>
        <p:spPr>
          <a:xfrm>
            <a:off x="522304" y="489359"/>
            <a:ext cx="10955043" cy="5865211"/>
          </a:xfrm>
          <a:prstGeom prst="rect">
            <a:avLst/>
          </a:prstGeom>
        </p:spPr>
      </p:pic>
      <p:sp>
        <p:nvSpPr>
          <p:cNvPr id="2" name="Footer Placeholder 1">
            <a:extLst>
              <a:ext uri="{FF2B5EF4-FFF2-40B4-BE49-F238E27FC236}">
                <a16:creationId xmlns:a16="http://schemas.microsoft.com/office/drawing/2014/main" id="{AC361783-A52D-D4B6-A034-1FE437285DB8}"/>
              </a:ext>
            </a:extLst>
          </p:cNvPr>
          <p:cNvSpPr>
            <a:spLocks noGrp="1"/>
          </p:cNvSpPr>
          <p:nvPr>
            <p:ph type="ftr" sz="quarter" idx="11"/>
          </p:nvPr>
        </p:nvSpPr>
        <p:spPr/>
        <p:txBody>
          <a:bodyPr/>
          <a:lstStyle/>
          <a:p>
            <a:r>
              <a:rPr lang="en-US"/>
              <a:t>by:- Shantanu Mahajan (Velocity)</a:t>
            </a:r>
          </a:p>
        </p:txBody>
      </p:sp>
    </p:spTree>
    <p:extLst>
      <p:ext uri="{BB962C8B-B14F-4D97-AF65-F5344CB8AC3E}">
        <p14:creationId xmlns:p14="http://schemas.microsoft.com/office/powerpoint/2010/main" val="172092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D0701-2EC6-9AFF-9F44-A36C6E0DD567}"/>
              </a:ext>
            </a:extLst>
          </p:cNvPr>
          <p:cNvSpPr>
            <a:spLocks noGrp="1"/>
          </p:cNvSpPr>
          <p:nvPr>
            <p:ph type="title"/>
          </p:nvPr>
        </p:nvSpPr>
        <p:spPr>
          <a:xfrm>
            <a:off x="1069848" y="244843"/>
            <a:ext cx="10058400" cy="1119106"/>
          </a:xfrm>
        </p:spPr>
        <p:txBody>
          <a:bodyPr>
            <a:normAutofit/>
          </a:bodyPr>
          <a:lstStyle/>
          <a:p>
            <a:r>
              <a:rPr lang="en-US" sz="1800" dirty="0"/>
              <a:t>K8s components (master)</a:t>
            </a:r>
            <a:br>
              <a:rPr lang="en-US" sz="1800" dirty="0">
                <a:latin typeface="Rockwell Condensed"/>
              </a:rPr>
            </a:br>
            <a:br>
              <a:rPr lang="en-US" sz="1800" dirty="0"/>
            </a:br>
            <a:r>
              <a:rPr lang="en-US" sz="1800" dirty="0">
                <a:ea typeface="+mj-lt"/>
                <a:cs typeface="+mj-lt"/>
              </a:rPr>
              <a:t>https://kubernetes.io/docs/concepts/overview/components/https://kubernetes.io/docs/concepts/overview/components/</a:t>
            </a:r>
            <a:endParaRPr lang="en-US" sz="1800" dirty="0">
              <a:latin typeface="Rockwell Condensed"/>
              <a:ea typeface="+mj-lt"/>
              <a:cs typeface="+mj-lt"/>
            </a:endParaRPr>
          </a:p>
        </p:txBody>
      </p:sp>
      <p:sp>
        <p:nvSpPr>
          <p:cNvPr id="3" name="Content Placeholder 2">
            <a:extLst>
              <a:ext uri="{FF2B5EF4-FFF2-40B4-BE49-F238E27FC236}">
                <a16:creationId xmlns:a16="http://schemas.microsoft.com/office/drawing/2014/main" id="{F4A0F89D-F7D5-D581-BF1C-9AD7955E0CA5}"/>
              </a:ext>
            </a:extLst>
          </p:cNvPr>
          <p:cNvSpPr>
            <a:spLocks noGrp="1"/>
          </p:cNvSpPr>
          <p:nvPr>
            <p:ph sz="half" idx="1"/>
          </p:nvPr>
        </p:nvSpPr>
        <p:spPr>
          <a:xfrm>
            <a:off x="1069848" y="1437889"/>
            <a:ext cx="4754880" cy="4734311"/>
          </a:xfrm>
        </p:spPr>
        <p:txBody>
          <a:bodyPr vert="horz" lIns="91440" tIns="45720" rIns="91440" bIns="45720" rtlCol="0" anchor="t">
            <a:normAutofit/>
          </a:bodyPr>
          <a:lstStyle/>
          <a:p>
            <a:r>
              <a:rPr lang="en-US" dirty="0" err="1">
                <a:solidFill>
                  <a:srgbClr val="222222"/>
                </a:solidFill>
              </a:rPr>
              <a:t>kube-apiserver</a:t>
            </a:r>
            <a:r>
              <a:rPr lang="en-US" dirty="0">
                <a:solidFill>
                  <a:srgbClr val="3371E3"/>
                </a:solidFill>
                <a:hlinkClick r:id="rId2"/>
              </a:rPr>
              <a:t> </a:t>
            </a:r>
            <a:endParaRPr lang="en-US"/>
          </a:p>
          <a:p>
            <a:pPr marL="457200" indent="-457200">
              <a:buClr>
                <a:srgbClr val="9E3611"/>
              </a:buClr>
              <a:buAutoNum type="arabicPeriod"/>
            </a:pPr>
            <a:r>
              <a:rPr lang="en-US" dirty="0"/>
              <a:t>Api servers job is to communicate with all the components of k8s.</a:t>
            </a:r>
          </a:p>
          <a:p>
            <a:pPr marL="457200" indent="-457200">
              <a:buClr>
                <a:srgbClr val="9E3611"/>
              </a:buClr>
              <a:buAutoNum type="arabicPeriod"/>
            </a:pPr>
            <a:r>
              <a:rPr lang="en-US" dirty="0">
                <a:solidFill>
                  <a:srgbClr val="222222"/>
                </a:solidFill>
                <a:ea typeface="+mn-lt"/>
                <a:cs typeface="+mn-lt"/>
              </a:rPr>
              <a:t>The Kubernetes API server validates and configures data for the </a:t>
            </a:r>
            <a:r>
              <a:rPr lang="en-US" err="1">
                <a:solidFill>
                  <a:srgbClr val="222222"/>
                </a:solidFill>
                <a:ea typeface="+mn-lt"/>
                <a:cs typeface="+mn-lt"/>
              </a:rPr>
              <a:t>api</a:t>
            </a:r>
            <a:r>
              <a:rPr lang="en-US" dirty="0">
                <a:solidFill>
                  <a:srgbClr val="222222"/>
                </a:solidFill>
                <a:ea typeface="+mn-lt"/>
                <a:cs typeface="+mn-lt"/>
              </a:rPr>
              <a:t> objects which include pods, services, </a:t>
            </a:r>
            <a:r>
              <a:rPr lang="en-US" err="1">
                <a:solidFill>
                  <a:srgbClr val="222222"/>
                </a:solidFill>
                <a:ea typeface="+mn-lt"/>
                <a:cs typeface="+mn-lt"/>
              </a:rPr>
              <a:t>replicationcontrollers</a:t>
            </a:r>
            <a:r>
              <a:rPr lang="en-US" dirty="0">
                <a:solidFill>
                  <a:srgbClr val="222222"/>
                </a:solidFill>
                <a:ea typeface="+mn-lt"/>
                <a:cs typeface="+mn-lt"/>
              </a:rPr>
              <a:t>, and others. </a:t>
            </a:r>
            <a:endParaRPr lang="en-US" dirty="0">
              <a:solidFill>
                <a:srgbClr val="000000"/>
              </a:solidFill>
              <a:ea typeface="+mn-lt"/>
              <a:cs typeface="+mn-lt"/>
            </a:endParaRPr>
          </a:p>
          <a:p>
            <a:pPr marL="457200" indent="-457200">
              <a:buClr>
                <a:srgbClr val="9E3611"/>
              </a:buClr>
              <a:buAutoNum type="arabicPeriod"/>
            </a:pPr>
            <a:r>
              <a:rPr lang="en-US" dirty="0">
                <a:solidFill>
                  <a:srgbClr val="222222"/>
                </a:solidFill>
                <a:ea typeface="+mn-lt"/>
                <a:cs typeface="+mn-lt"/>
              </a:rPr>
              <a:t>The API Server services REST operations and provides the frontend to the cluster's shared state through which all other components interact</a:t>
            </a:r>
            <a:r>
              <a:rPr lang="en-US" sz="1200" dirty="0">
                <a:solidFill>
                  <a:srgbClr val="222222"/>
                </a:solidFill>
                <a:ea typeface="+mn-lt"/>
                <a:cs typeface="+mn-lt"/>
              </a:rPr>
              <a:t>.</a:t>
            </a:r>
            <a:br>
              <a:rPr lang="en-US" dirty="0"/>
            </a:br>
            <a:endParaRPr lang="en-US"/>
          </a:p>
          <a:p>
            <a:pPr marL="457200" indent="-457200">
              <a:buClr>
                <a:srgbClr val="9E3611"/>
              </a:buClr>
              <a:buAutoNum type="arabicPeriod"/>
            </a:pPr>
            <a:endParaRPr lang="en-US" dirty="0"/>
          </a:p>
        </p:txBody>
      </p:sp>
      <p:sp>
        <p:nvSpPr>
          <p:cNvPr id="4" name="Content Placeholder 3">
            <a:extLst>
              <a:ext uri="{FF2B5EF4-FFF2-40B4-BE49-F238E27FC236}">
                <a16:creationId xmlns:a16="http://schemas.microsoft.com/office/drawing/2014/main" id="{AB94C477-B02B-A4F6-3E57-D20961E7D57D}"/>
              </a:ext>
            </a:extLst>
          </p:cNvPr>
          <p:cNvSpPr>
            <a:spLocks noGrp="1"/>
          </p:cNvSpPr>
          <p:nvPr>
            <p:ph sz="half" idx="2"/>
          </p:nvPr>
        </p:nvSpPr>
        <p:spPr>
          <a:xfrm>
            <a:off x="6364224" y="1363288"/>
            <a:ext cx="4754880" cy="4808912"/>
          </a:xfrm>
        </p:spPr>
        <p:txBody>
          <a:bodyPr vert="horz" lIns="91440" tIns="45720" rIns="91440" bIns="45720" rtlCol="0" anchor="t">
            <a:normAutofit/>
          </a:bodyPr>
          <a:lstStyle/>
          <a:p>
            <a:r>
              <a:rPr lang="en-US" dirty="0">
                <a:solidFill>
                  <a:srgbClr val="3A3A3A"/>
                </a:solidFill>
              </a:rPr>
              <a:t>ETCD Cluster</a:t>
            </a:r>
          </a:p>
          <a:p>
            <a:pPr>
              <a:buClr>
                <a:srgbClr val="9E3611"/>
              </a:buClr>
            </a:pPr>
            <a:r>
              <a:rPr lang="en-US" dirty="0">
                <a:solidFill>
                  <a:srgbClr val="222222"/>
                </a:solidFill>
                <a:ea typeface="+mn-lt"/>
                <a:cs typeface="+mn-lt"/>
              </a:rPr>
              <a:t>Consistent and highly-available key value store used as Kubernetes' backing store for all cluster data.</a:t>
            </a:r>
            <a:endParaRPr lang="en-US" dirty="0">
              <a:solidFill>
                <a:srgbClr val="3A3A3A"/>
              </a:solidFill>
            </a:endParaRPr>
          </a:p>
          <a:p>
            <a:pPr>
              <a:buClr>
                <a:srgbClr val="9E3611"/>
              </a:buClr>
            </a:pPr>
            <a:r>
              <a:rPr lang="en-US" dirty="0">
                <a:solidFill>
                  <a:srgbClr val="222222"/>
                </a:solidFill>
                <a:ea typeface="+mn-lt"/>
                <a:cs typeface="+mn-lt"/>
              </a:rPr>
              <a:t>If your Kubernetes cluster uses </a:t>
            </a:r>
            <a:r>
              <a:rPr lang="en-US" err="1">
                <a:solidFill>
                  <a:srgbClr val="222222"/>
                </a:solidFill>
                <a:ea typeface="+mn-lt"/>
                <a:cs typeface="+mn-lt"/>
              </a:rPr>
              <a:t>etcd</a:t>
            </a:r>
            <a:r>
              <a:rPr lang="en-US" dirty="0">
                <a:solidFill>
                  <a:srgbClr val="222222"/>
                </a:solidFill>
                <a:ea typeface="+mn-lt"/>
                <a:cs typeface="+mn-lt"/>
              </a:rPr>
              <a:t> as its backing store, make sure you have a </a:t>
            </a:r>
            <a:r>
              <a:rPr lang="en-US" err="1">
                <a:ea typeface="+mn-lt"/>
                <a:cs typeface="+mn-lt"/>
              </a:rPr>
              <a:t>back up</a:t>
            </a:r>
            <a:r>
              <a:rPr lang="en-US" dirty="0">
                <a:solidFill>
                  <a:srgbClr val="222222"/>
                </a:solidFill>
                <a:ea typeface="+mn-lt"/>
                <a:cs typeface="+mn-lt"/>
              </a:rPr>
              <a:t> plan for the data.</a:t>
            </a:r>
            <a:endParaRPr lang="en-US" dirty="0"/>
          </a:p>
          <a:p>
            <a:pPr marL="457200" indent="-457200">
              <a:buClr>
                <a:srgbClr val="9E3611"/>
              </a:buClr>
              <a:buAutoNum type="arabicPeriod"/>
            </a:pPr>
            <a:r>
              <a:rPr lang="en-US" dirty="0">
                <a:solidFill>
                  <a:srgbClr val="3A3A3A"/>
                </a:solidFill>
              </a:rPr>
              <a:t>It’s a</a:t>
            </a:r>
            <a:r>
              <a:rPr lang="en-US" dirty="0">
                <a:solidFill>
                  <a:srgbClr val="3A3A3A"/>
                </a:solidFill>
                <a:ea typeface="+mn-lt"/>
                <a:cs typeface="+mn-lt"/>
              </a:rPr>
              <a:t> key-value database that contains data about your cluster state and configuration.</a:t>
            </a:r>
          </a:p>
          <a:p>
            <a:pPr marL="457200" indent="-457200">
              <a:buClr>
                <a:srgbClr val="9E3611"/>
              </a:buClr>
              <a:buAutoNum type="arabicPeriod"/>
            </a:pPr>
            <a:r>
              <a:rPr lang="en-US" dirty="0">
                <a:solidFill>
                  <a:srgbClr val="3A3A3A"/>
                </a:solidFill>
                <a:ea typeface="+mn-lt"/>
                <a:cs typeface="+mn-lt"/>
              </a:rPr>
              <a:t> </a:t>
            </a:r>
            <a:r>
              <a:rPr lang="en-US" err="1">
                <a:solidFill>
                  <a:srgbClr val="3A3A3A"/>
                </a:solidFill>
                <a:ea typeface="+mn-lt"/>
                <a:cs typeface="+mn-lt"/>
              </a:rPr>
              <a:t>Etcd</a:t>
            </a:r>
            <a:r>
              <a:rPr lang="en-US" dirty="0">
                <a:solidFill>
                  <a:srgbClr val="3A3A3A"/>
                </a:solidFill>
                <a:ea typeface="+mn-lt"/>
                <a:cs typeface="+mn-lt"/>
              </a:rPr>
              <a:t> is fault tolerant and distributed.</a:t>
            </a:r>
            <a:endParaRPr lang="en-US"/>
          </a:p>
        </p:txBody>
      </p:sp>
      <p:sp>
        <p:nvSpPr>
          <p:cNvPr id="5" name="Footer Placeholder 4">
            <a:extLst>
              <a:ext uri="{FF2B5EF4-FFF2-40B4-BE49-F238E27FC236}">
                <a16:creationId xmlns:a16="http://schemas.microsoft.com/office/drawing/2014/main" id="{6E0B631F-F389-FF60-ABBF-D40F935A94D4}"/>
              </a:ext>
            </a:extLst>
          </p:cNvPr>
          <p:cNvSpPr>
            <a:spLocks noGrp="1"/>
          </p:cNvSpPr>
          <p:nvPr>
            <p:ph type="ftr" sz="quarter" idx="11"/>
          </p:nvPr>
        </p:nvSpPr>
        <p:spPr/>
        <p:txBody>
          <a:bodyPr/>
          <a:lstStyle/>
          <a:p>
            <a:r>
              <a:rPr lang="en-US"/>
              <a:t>by:- Shantanu Mahajan (Velocity)</a:t>
            </a:r>
          </a:p>
        </p:txBody>
      </p:sp>
    </p:spTree>
    <p:extLst>
      <p:ext uri="{BB962C8B-B14F-4D97-AF65-F5344CB8AC3E}">
        <p14:creationId xmlns:p14="http://schemas.microsoft.com/office/powerpoint/2010/main" val="4016554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09F04-09EE-E741-6C02-80547448B1F6}"/>
              </a:ext>
            </a:extLst>
          </p:cNvPr>
          <p:cNvSpPr>
            <a:spLocks noGrp="1"/>
          </p:cNvSpPr>
          <p:nvPr>
            <p:ph type="title"/>
          </p:nvPr>
        </p:nvSpPr>
        <p:spPr>
          <a:xfrm>
            <a:off x="1069848" y="154255"/>
            <a:ext cx="10058400" cy="607554"/>
          </a:xfrm>
        </p:spPr>
        <p:txBody>
          <a:bodyPr>
            <a:normAutofit/>
          </a:bodyPr>
          <a:lstStyle/>
          <a:p>
            <a:r>
              <a:rPr lang="en-US" sz="3200" dirty="0">
                <a:solidFill>
                  <a:srgbClr val="000000"/>
                </a:solidFill>
              </a:rPr>
              <a:t>K8s components (master)</a:t>
            </a:r>
            <a:endParaRPr lang="en-US" sz="3200" dirty="0"/>
          </a:p>
        </p:txBody>
      </p:sp>
      <p:sp>
        <p:nvSpPr>
          <p:cNvPr id="3" name="Content Placeholder 2">
            <a:extLst>
              <a:ext uri="{FF2B5EF4-FFF2-40B4-BE49-F238E27FC236}">
                <a16:creationId xmlns:a16="http://schemas.microsoft.com/office/drawing/2014/main" id="{D61F2CDC-6B54-E47A-C1F1-586A3007CA97}"/>
              </a:ext>
            </a:extLst>
          </p:cNvPr>
          <p:cNvSpPr>
            <a:spLocks noGrp="1"/>
          </p:cNvSpPr>
          <p:nvPr>
            <p:ph sz="half" idx="1"/>
          </p:nvPr>
        </p:nvSpPr>
        <p:spPr>
          <a:xfrm>
            <a:off x="1069848" y="798449"/>
            <a:ext cx="4754880" cy="5954575"/>
          </a:xfrm>
        </p:spPr>
        <p:txBody>
          <a:bodyPr vert="horz" lIns="91440" tIns="45720" rIns="91440" bIns="45720" rtlCol="0" anchor="t">
            <a:normAutofit fontScale="92500" lnSpcReduction="10000"/>
          </a:bodyPr>
          <a:lstStyle/>
          <a:p>
            <a:r>
              <a:rPr lang="en-US" dirty="0" err="1">
                <a:solidFill>
                  <a:srgbClr val="222222"/>
                </a:solidFill>
              </a:rPr>
              <a:t>kube</a:t>
            </a:r>
            <a:r>
              <a:rPr lang="en-US" dirty="0">
                <a:solidFill>
                  <a:srgbClr val="222222"/>
                </a:solidFill>
              </a:rPr>
              <a:t>-scheduler</a:t>
            </a:r>
            <a:endParaRPr lang="en-US" dirty="0"/>
          </a:p>
          <a:p>
            <a:pPr marL="457200" indent="-457200">
              <a:buClr>
                <a:srgbClr val="9E3611"/>
              </a:buClr>
              <a:buAutoNum type="arabicPeriod"/>
            </a:pPr>
            <a:r>
              <a:rPr lang="en-US" dirty="0">
                <a:solidFill>
                  <a:srgbClr val="3A3A3A"/>
                </a:solidFill>
                <a:ea typeface="+mn-lt"/>
                <a:cs typeface="+mn-lt"/>
              </a:rPr>
              <a:t>This component is responsible for scheduling pods on specific nodes according to automated workflows and user defined conditions, which can include resource requests, concerns like affinity and taints or tolerations, priority, persistent volumes (PV), and more.</a:t>
            </a:r>
          </a:p>
          <a:p>
            <a:pPr marL="457200" indent="-457200">
              <a:buClr>
                <a:srgbClr val="9E3611"/>
              </a:buClr>
              <a:buAutoNum type="arabicPeriod"/>
            </a:pPr>
            <a:r>
              <a:rPr lang="en-US" dirty="0">
                <a:solidFill>
                  <a:srgbClr val="222222"/>
                </a:solidFill>
                <a:ea typeface="+mn-lt"/>
                <a:cs typeface="+mn-lt"/>
              </a:rPr>
              <a:t>Control plane component that watches for newly created </a:t>
            </a:r>
            <a:r>
              <a:rPr lang="en-US" dirty="0">
                <a:solidFill>
                  <a:srgbClr val="0F306E"/>
                </a:solidFill>
                <a:ea typeface="+mn-lt"/>
                <a:cs typeface="+mn-lt"/>
              </a:rPr>
              <a:t>Pods</a:t>
            </a:r>
            <a:r>
              <a:rPr lang="en-US" dirty="0">
                <a:solidFill>
                  <a:srgbClr val="222222"/>
                </a:solidFill>
                <a:ea typeface="+mn-lt"/>
                <a:cs typeface="+mn-lt"/>
              </a:rPr>
              <a:t> with no assigned </a:t>
            </a:r>
            <a:r>
              <a:rPr lang="en-US" dirty="0">
                <a:solidFill>
                  <a:srgbClr val="000000"/>
                </a:solidFill>
                <a:ea typeface="+mn-lt"/>
                <a:cs typeface="+mn-lt"/>
              </a:rPr>
              <a:t>node</a:t>
            </a:r>
            <a:r>
              <a:rPr lang="en-US" dirty="0">
                <a:solidFill>
                  <a:srgbClr val="222222"/>
                </a:solidFill>
                <a:ea typeface="+mn-lt"/>
                <a:cs typeface="+mn-lt"/>
              </a:rPr>
              <a:t>, and selects a node for them to run on.</a:t>
            </a:r>
          </a:p>
          <a:p>
            <a:pPr marL="457200" indent="-457200">
              <a:buClr>
                <a:srgbClr val="9E3611"/>
              </a:buClr>
              <a:buAutoNum type="arabicPeriod"/>
            </a:pPr>
            <a:r>
              <a:rPr lang="en-US" dirty="0">
                <a:solidFill>
                  <a:srgbClr val="222222"/>
                </a:solidFill>
                <a:ea typeface="+mn-lt"/>
                <a:cs typeface="+mn-lt"/>
              </a:rPr>
              <a:t>Factors taken into account for scheduling decisions include: individual and collective resource requirements, hardware/software/policy constraints, affinity and anti-affinity specifications, data locality, inter-workload interference, and deadlines</a:t>
            </a:r>
            <a:endParaRPr lang="en-US" dirty="0">
              <a:solidFill>
                <a:srgbClr val="222222"/>
              </a:solidFill>
            </a:endParaRPr>
          </a:p>
        </p:txBody>
      </p:sp>
      <p:sp>
        <p:nvSpPr>
          <p:cNvPr id="4" name="Content Placeholder 3">
            <a:extLst>
              <a:ext uri="{FF2B5EF4-FFF2-40B4-BE49-F238E27FC236}">
                <a16:creationId xmlns:a16="http://schemas.microsoft.com/office/drawing/2014/main" id="{D36AFEF9-946A-2F67-780F-488523EF6F12}"/>
              </a:ext>
            </a:extLst>
          </p:cNvPr>
          <p:cNvSpPr>
            <a:spLocks noGrp="1"/>
          </p:cNvSpPr>
          <p:nvPr>
            <p:ph sz="half" idx="2"/>
          </p:nvPr>
        </p:nvSpPr>
        <p:spPr>
          <a:xfrm>
            <a:off x="6364224" y="1278029"/>
            <a:ext cx="4754880" cy="4894171"/>
          </a:xfrm>
        </p:spPr>
        <p:txBody>
          <a:bodyPr vert="horz" lIns="91440" tIns="45720" rIns="91440" bIns="45720" rtlCol="0" anchor="t">
            <a:normAutofit fontScale="92500" lnSpcReduction="10000"/>
          </a:bodyPr>
          <a:lstStyle/>
          <a:p>
            <a:r>
              <a:rPr lang="en-US" dirty="0"/>
              <a:t>Control-manager</a:t>
            </a:r>
          </a:p>
          <a:p>
            <a:pPr>
              <a:buClr>
                <a:srgbClr val="9E3611"/>
              </a:buClr>
            </a:pPr>
            <a:r>
              <a:rPr lang="en-US" dirty="0">
                <a:solidFill>
                  <a:srgbClr val="3A3A3A"/>
                </a:solidFill>
                <a:ea typeface="+mn-lt"/>
                <a:cs typeface="+mn-lt"/>
              </a:rPr>
              <a:t>The Kubernetes controller manager is a control loop that monitors and regulates the state of a Kubernetes cluster.</a:t>
            </a:r>
            <a:endParaRPr lang="en-US" dirty="0">
              <a:solidFill>
                <a:srgbClr val="000000"/>
              </a:solidFill>
              <a:ea typeface="+mn-lt"/>
              <a:cs typeface="+mn-lt"/>
            </a:endParaRPr>
          </a:p>
          <a:p>
            <a:pPr>
              <a:buClr>
                <a:srgbClr val="9E3611"/>
              </a:buClr>
            </a:pPr>
            <a:r>
              <a:rPr lang="en-US" dirty="0">
                <a:solidFill>
                  <a:srgbClr val="3A3A3A"/>
                </a:solidFill>
                <a:ea typeface="+mn-lt"/>
                <a:cs typeface="+mn-lt"/>
              </a:rPr>
              <a:t> It receives information about the current state of the cluster and objects within it, and sends instructions to move the cluster towards the cluster operator’s desired state. </a:t>
            </a:r>
            <a:endParaRPr lang="en-US"/>
          </a:p>
          <a:p>
            <a:pPr>
              <a:buClr>
                <a:srgbClr val="9E3611"/>
              </a:buClr>
            </a:pPr>
            <a:r>
              <a:rPr lang="en-US" dirty="0">
                <a:solidFill>
                  <a:srgbClr val="3A3A3A"/>
                </a:solidFill>
                <a:ea typeface="+mn-lt"/>
                <a:cs typeface="+mn-lt"/>
              </a:rPr>
              <a:t>The controller manager is responsible for several controllers that handle various automated activities at the cluster or pod level, including replication controller, namespace controller, service accounts controller, deployment, </a:t>
            </a:r>
            <a:r>
              <a:rPr lang="en-US" err="1">
                <a:solidFill>
                  <a:srgbClr val="3A3A3A"/>
                </a:solidFill>
                <a:ea typeface="+mn-lt"/>
                <a:cs typeface="+mn-lt"/>
              </a:rPr>
              <a:t>statefulset</a:t>
            </a:r>
            <a:r>
              <a:rPr lang="en-US" dirty="0">
                <a:solidFill>
                  <a:srgbClr val="3A3A3A"/>
                </a:solidFill>
                <a:ea typeface="+mn-lt"/>
                <a:cs typeface="+mn-lt"/>
              </a:rPr>
              <a:t>, and </a:t>
            </a:r>
            <a:r>
              <a:rPr lang="en-US" err="1">
                <a:solidFill>
                  <a:srgbClr val="3A3A3A"/>
                </a:solidFill>
                <a:ea typeface="+mn-lt"/>
                <a:cs typeface="+mn-lt"/>
              </a:rPr>
              <a:t>daemonset</a:t>
            </a:r>
            <a:r>
              <a:rPr lang="en-US" dirty="0">
                <a:solidFill>
                  <a:srgbClr val="3A3A3A"/>
                </a:solidFill>
                <a:ea typeface="+mn-lt"/>
                <a:cs typeface="+mn-lt"/>
              </a:rPr>
              <a:t>.</a:t>
            </a:r>
            <a:endParaRPr lang="en-US" dirty="0"/>
          </a:p>
          <a:p>
            <a:pPr>
              <a:buClr>
                <a:srgbClr val="9E3611"/>
              </a:buClr>
            </a:pPr>
            <a:endParaRPr lang="en-US" dirty="0">
              <a:solidFill>
                <a:srgbClr val="3A3A3A"/>
              </a:solidFill>
            </a:endParaRPr>
          </a:p>
          <a:p>
            <a:pPr marL="457200" indent="-457200">
              <a:buClr>
                <a:srgbClr val="9E3611"/>
              </a:buClr>
              <a:buAutoNum type="arabicPeriod"/>
            </a:pPr>
            <a:endParaRPr lang="en-US" dirty="0"/>
          </a:p>
        </p:txBody>
      </p:sp>
      <p:sp>
        <p:nvSpPr>
          <p:cNvPr id="5" name="Footer Placeholder 4">
            <a:extLst>
              <a:ext uri="{FF2B5EF4-FFF2-40B4-BE49-F238E27FC236}">
                <a16:creationId xmlns:a16="http://schemas.microsoft.com/office/drawing/2014/main" id="{1A84DFE4-EA5B-140E-DDD0-961941F9600B}"/>
              </a:ext>
            </a:extLst>
          </p:cNvPr>
          <p:cNvSpPr>
            <a:spLocks noGrp="1"/>
          </p:cNvSpPr>
          <p:nvPr>
            <p:ph type="ftr" sz="quarter" idx="11"/>
          </p:nvPr>
        </p:nvSpPr>
        <p:spPr/>
        <p:txBody>
          <a:bodyPr/>
          <a:lstStyle/>
          <a:p>
            <a:r>
              <a:rPr lang="en-US"/>
              <a:t>by:- Shantanu Mahajan (Velocity)</a:t>
            </a:r>
          </a:p>
        </p:txBody>
      </p:sp>
    </p:spTree>
    <p:extLst>
      <p:ext uri="{BB962C8B-B14F-4D97-AF65-F5344CB8AC3E}">
        <p14:creationId xmlns:p14="http://schemas.microsoft.com/office/powerpoint/2010/main" val="1496822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65E1-EC14-6B61-8D6D-14BF477A1042}"/>
              </a:ext>
            </a:extLst>
          </p:cNvPr>
          <p:cNvSpPr>
            <a:spLocks noGrp="1"/>
          </p:cNvSpPr>
          <p:nvPr>
            <p:ph type="title"/>
          </p:nvPr>
        </p:nvSpPr>
        <p:spPr>
          <a:xfrm>
            <a:off x="1069848" y="58339"/>
            <a:ext cx="10058400" cy="799385"/>
          </a:xfrm>
        </p:spPr>
        <p:txBody>
          <a:bodyPr>
            <a:normAutofit/>
          </a:bodyPr>
          <a:lstStyle/>
          <a:p>
            <a:r>
              <a:rPr lang="en-US" sz="2800" dirty="0"/>
              <a:t>Control-manager</a:t>
            </a:r>
          </a:p>
        </p:txBody>
      </p:sp>
      <p:sp>
        <p:nvSpPr>
          <p:cNvPr id="3" name="Content Placeholder 2">
            <a:extLst>
              <a:ext uri="{FF2B5EF4-FFF2-40B4-BE49-F238E27FC236}">
                <a16:creationId xmlns:a16="http://schemas.microsoft.com/office/drawing/2014/main" id="{EA2E0251-6CDA-D8FB-9657-A1622FA00BB6}"/>
              </a:ext>
            </a:extLst>
          </p:cNvPr>
          <p:cNvSpPr>
            <a:spLocks noGrp="1"/>
          </p:cNvSpPr>
          <p:nvPr>
            <p:ph sz="half" idx="1"/>
          </p:nvPr>
        </p:nvSpPr>
        <p:spPr>
          <a:xfrm>
            <a:off x="1069848" y="926336"/>
            <a:ext cx="4754880" cy="5874646"/>
          </a:xfrm>
        </p:spPr>
        <p:txBody>
          <a:bodyPr vert="horz" lIns="91440" tIns="45720" rIns="91440" bIns="45720" rtlCol="0" anchor="t">
            <a:normAutofit fontScale="92500" lnSpcReduction="20000"/>
          </a:bodyPr>
          <a:lstStyle/>
          <a:p>
            <a:r>
              <a:rPr lang="en-US" dirty="0">
                <a:solidFill>
                  <a:srgbClr val="222222"/>
                </a:solidFill>
                <a:ea typeface="+mn-lt"/>
                <a:cs typeface="+mn-lt"/>
              </a:rPr>
              <a:t>Control plane component that runs </a:t>
            </a:r>
            <a:r>
              <a:rPr lang="en-US" dirty="0">
                <a:ea typeface="+mn-lt"/>
                <a:cs typeface="+mn-lt"/>
              </a:rPr>
              <a:t>controller</a:t>
            </a:r>
            <a:r>
              <a:rPr lang="en-US" dirty="0">
                <a:solidFill>
                  <a:srgbClr val="222222"/>
                </a:solidFill>
                <a:ea typeface="+mn-lt"/>
                <a:cs typeface="+mn-lt"/>
              </a:rPr>
              <a:t> processes.</a:t>
            </a:r>
            <a:endParaRPr lang="en-US" dirty="0"/>
          </a:p>
          <a:p>
            <a:pPr marL="457200" indent="-457200">
              <a:buClr>
                <a:srgbClr val="9E3611"/>
              </a:buClr>
              <a:buAutoNum type="arabicPeriod"/>
            </a:pPr>
            <a:r>
              <a:rPr lang="en-US" dirty="0">
                <a:solidFill>
                  <a:srgbClr val="222222"/>
                </a:solidFill>
                <a:ea typeface="+mn-lt"/>
                <a:cs typeface="+mn-lt"/>
              </a:rPr>
              <a:t>Logically, each </a:t>
            </a:r>
            <a:r>
              <a:rPr lang="en-US">
                <a:ea typeface="+mn-lt"/>
                <a:cs typeface="+mn-lt"/>
              </a:rPr>
              <a:t>controller</a:t>
            </a:r>
            <a:r>
              <a:rPr lang="en-US" dirty="0">
                <a:solidFill>
                  <a:srgbClr val="222222"/>
                </a:solidFill>
                <a:ea typeface="+mn-lt"/>
                <a:cs typeface="+mn-lt"/>
              </a:rPr>
              <a:t> is a separate process, but to reduce complexity, they are all compiled into a single binary and run in a single process.</a:t>
            </a:r>
            <a:endParaRPr lang="en-US" dirty="0"/>
          </a:p>
          <a:p>
            <a:pPr marL="457200" indent="-457200">
              <a:buClr>
                <a:srgbClr val="9E3611"/>
              </a:buClr>
              <a:buAutoNum type="arabicPeriod"/>
            </a:pPr>
            <a:r>
              <a:rPr lang="en-US" dirty="0">
                <a:solidFill>
                  <a:srgbClr val="222222"/>
                </a:solidFill>
                <a:ea typeface="+mn-lt"/>
                <a:cs typeface="+mn-lt"/>
              </a:rPr>
              <a:t>There are many different types of controllers. Some examples of them are:</a:t>
            </a:r>
            <a:endParaRPr lang="en-US" dirty="0"/>
          </a:p>
          <a:p>
            <a:pPr marL="457200" indent="-457200">
              <a:buClr>
                <a:srgbClr val="9E3611"/>
              </a:buClr>
              <a:buAutoNum type="arabicPeriod"/>
            </a:pPr>
            <a:r>
              <a:rPr lang="en-US" dirty="0">
                <a:solidFill>
                  <a:srgbClr val="222222"/>
                </a:solidFill>
                <a:ea typeface="+mn-lt"/>
                <a:cs typeface="+mn-lt"/>
              </a:rPr>
              <a:t>Node controller: Responsible for noticing and responding when nodes go down.</a:t>
            </a:r>
            <a:endParaRPr lang="en-US" dirty="0"/>
          </a:p>
          <a:p>
            <a:pPr marL="457200" indent="-457200">
              <a:buClr>
                <a:srgbClr val="9E3611"/>
              </a:buClr>
              <a:buAutoNum type="arabicPeriod"/>
            </a:pPr>
            <a:r>
              <a:rPr lang="en-US" dirty="0">
                <a:solidFill>
                  <a:srgbClr val="222222"/>
                </a:solidFill>
                <a:ea typeface="+mn-lt"/>
                <a:cs typeface="+mn-lt"/>
              </a:rPr>
              <a:t>Job controller: Watches for Job objects that represent one-off tasks, then creates Pods to run those tasks to completion.</a:t>
            </a:r>
            <a:endParaRPr lang="en-US" dirty="0"/>
          </a:p>
          <a:p>
            <a:pPr marL="457200" indent="-457200">
              <a:buClr>
                <a:srgbClr val="9E3611"/>
              </a:buClr>
              <a:buAutoNum type="arabicPeriod"/>
            </a:pPr>
            <a:r>
              <a:rPr lang="en-US" err="1">
                <a:solidFill>
                  <a:srgbClr val="222222"/>
                </a:solidFill>
                <a:ea typeface="+mn-lt"/>
                <a:cs typeface="+mn-lt"/>
              </a:rPr>
              <a:t>EndpointSlice</a:t>
            </a:r>
            <a:r>
              <a:rPr lang="en-US" dirty="0">
                <a:solidFill>
                  <a:srgbClr val="222222"/>
                </a:solidFill>
                <a:ea typeface="+mn-lt"/>
                <a:cs typeface="+mn-lt"/>
              </a:rPr>
              <a:t> controller: Populates </a:t>
            </a:r>
            <a:r>
              <a:rPr lang="en-US" err="1">
                <a:solidFill>
                  <a:srgbClr val="222222"/>
                </a:solidFill>
                <a:ea typeface="+mn-lt"/>
                <a:cs typeface="+mn-lt"/>
              </a:rPr>
              <a:t>EndpointSlice</a:t>
            </a:r>
            <a:r>
              <a:rPr lang="en-US" dirty="0">
                <a:solidFill>
                  <a:srgbClr val="222222"/>
                </a:solidFill>
                <a:ea typeface="+mn-lt"/>
                <a:cs typeface="+mn-lt"/>
              </a:rPr>
              <a:t> objects (to provide a link between Services and Pods).</a:t>
            </a:r>
            <a:endParaRPr lang="en-US" dirty="0"/>
          </a:p>
          <a:p>
            <a:pPr marL="457200" indent="-457200">
              <a:buClr>
                <a:srgbClr val="9E3611"/>
              </a:buClr>
              <a:buAutoNum type="arabicPeriod"/>
            </a:pPr>
            <a:r>
              <a:rPr lang="en-US" err="1">
                <a:solidFill>
                  <a:srgbClr val="222222"/>
                </a:solidFill>
                <a:ea typeface="+mn-lt"/>
                <a:cs typeface="+mn-lt"/>
              </a:rPr>
              <a:t>ServiceAccount</a:t>
            </a:r>
            <a:r>
              <a:rPr lang="en-US" dirty="0">
                <a:solidFill>
                  <a:srgbClr val="222222"/>
                </a:solidFill>
                <a:ea typeface="+mn-lt"/>
                <a:cs typeface="+mn-lt"/>
              </a:rPr>
              <a:t> controller: Create default </a:t>
            </a:r>
            <a:r>
              <a:rPr lang="en-US" err="1">
                <a:solidFill>
                  <a:srgbClr val="222222"/>
                </a:solidFill>
                <a:ea typeface="+mn-lt"/>
                <a:cs typeface="+mn-lt"/>
              </a:rPr>
              <a:t>ServiceAccounts</a:t>
            </a:r>
            <a:r>
              <a:rPr lang="en-US" dirty="0">
                <a:solidFill>
                  <a:srgbClr val="222222"/>
                </a:solidFill>
                <a:ea typeface="+mn-lt"/>
                <a:cs typeface="+mn-lt"/>
              </a:rPr>
              <a:t> for new namespaces.</a:t>
            </a:r>
            <a:endParaRPr lang="en-US" dirty="0"/>
          </a:p>
          <a:p>
            <a:pPr>
              <a:buClr>
                <a:srgbClr val="9E3611"/>
              </a:buClr>
            </a:pPr>
            <a:endParaRPr lang="en-US" dirty="0"/>
          </a:p>
        </p:txBody>
      </p:sp>
      <p:sp>
        <p:nvSpPr>
          <p:cNvPr id="5" name="Content Placeholder 4">
            <a:extLst>
              <a:ext uri="{FF2B5EF4-FFF2-40B4-BE49-F238E27FC236}">
                <a16:creationId xmlns:a16="http://schemas.microsoft.com/office/drawing/2014/main" id="{F99A63D1-D6AD-7321-CE3F-56EF803CFE81}"/>
              </a:ext>
            </a:extLst>
          </p:cNvPr>
          <p:cNvSpPr>
            <a:spLocks noGrp="1"/>
          </p:cNvSpPr>
          <p:nvPr>
            <p:ph sz="half" idx="2"/>
          </p:nvPr>
        </p:nvSpPr>
        <p:spPr>
          <a:xfrm>
            <a:off x="6364224" y="787791"/>
            <a:ext cx="4754880" cy="5384409"/>
          </a:xfrm>
        </p:spPr>
        <p:txBody>
          <a:bodyPr vert="horz" lIns="91440" tIns="45720" rIns="91440" bIns="45720" rtlCol="0" anchor="t">
            <a:normAutofit fontScale="92500" lnSpcReduction="20000"/>
          </a:bodyPr>
          <a:lstStyle/>
          <a:p>
            <a:r>
              <a:rPr lang="en-US" dirty="0" err="1"/>
              <a:t>Kubectl</a:t>
            </a:r>
          </a:p>
          <a:p>
            <a:pPr marL="457200" indent="-457200">
              <a:buClr>
                <a:srgbClr val="9E3611"/>
              </a:buClr>
              <a:buAutoNum type="arabicPeriod"/>
            </a:pPr>
            <a:r>
              <a:rPr lang="en-US" sz="1600" err="1">
                <a:solidFill>
                  <a:srgbClr val="202124"/>
                </a:solidFill>
                <a:ea typeface="+mn-lt"/>
                <a:cs typeface="+mn-lt"/>
              </a:rPr>
              <a:t>Kubectl</a:t>
            </a:r>
            <a:r>
              <a:rPr lang="en-US" sz="1600" dirty="0">
                <a:solidFill>
                  <a:srgbClr val="202124"/>
                </a:solidFill>
                <a:ea typeface="+mn-lt"/>
                <a:cs typeface="+mn-lt"/>
              </a:rPr>
              <a:t> is </a:t>
            </a:r>
            <a:r>
              <a:rPr lang="en-US" sz="1600" dirty="0">
                <a:solidFill>
                  <a:srgbClr val="040C28"/>
                </a:solidFill>
                <a:ea typeface="+mn-lt"/>
                <a:cs typeface="+mn-lt"/>
              </a:rPr>
              <a:t>a command line tool used to run commands against Kubernetes clusters</a:t>
            </a:r>
            <a:r>
              <a:rPr lang="en-US" sz="1600" dirty="0">
                <a:solidFill>
                  <a:srgbClr val="202124"/>
                </a:solidFill>
                <a:ea typeface="+mn-lt"/>
                <a:cs typeface="+mn-lt"/>
              </a:rPr>
              <a:t>. </a:t>
            </a:r>
            <a:endParaRPr lang="en-US" dirty="0">
              <a:solidFill>
                <a:srgbClr val="000000"/>
              </a:solidFill>
              <a:ea typeface="+mn-lt"/>
              <a:cs typeface="+mn-lt"/>
            </a:endParaRPr>
          </a:p>
          <a:p>
            <a:pPr marL="457200" indent="-457200">
              <a:buClr>
                <a:srgbClr val="9E3611"/>
              </a:buClr>
              <a:buAutoNum type="arabicPeriod"/>
            </a:pPr>
            <a:r>
              <a:rPr lang="en-US" sz="1600" dirty="0">
                <a:solidFill>
                  <a:srgbClr val="202124"/>
                </a:solidFill>
                <a:ea typeface="+mn-lt"/>
                <a:cs typeface="+mn-lt"/>
              </a:rPr>
              <a:t>It does this by authenticating with the Master Node of your cluster and making API calls to do a variety of management actions.</a:t>
            </a:r>
            <a:endParaRPr lang="en-US" dirty="0"/>
          </a:p>
        </p:txBody>
      </p:sp>
      <p:sp>
        <p:nvSpPr>
          <p:cNvPr id="4" name="Footer Placeholder 3">
            <a:extLst>
              <a:ext uri="{FF2B5EF4-FFF2-40B4-BE49-F238E27FC236}">
                <a16:creationId xmlns:a16="http://schemas.microsoft.com/office/drawing/2014/main" id="{58C1E4D8-D76C-5A2A-038F-D159B6C14D30}"/>
              </a:ext>
            </a:extLst>
          </p:cNvPr>
          <p:cNvSpPr>
            <a:spLocks noGrp="1"/>
          </p:cNvSpPr>
          <p:nvPr>
            <p:ph type="ftr" sz="quarter" idx="11"/>
          </p:nvPr>
        </p:nvSpPr>
        <p:spPr/>
        <p:txBody>
          <a:bodyPr/>
          <a:lstStyle/>
          <a:p>
            <a:r>
              <a:rPr lang="en-US"/>
              <a:t>by:- Shantanu Mahajan (Velocity)</a:t>
            </a:r>
          </a:p>
        </p:txBody>
      </p:sp>
    </p:spTree>
    <p:extLst>
      <p:ext uri="{BB962C8B-B14F-4D97-AF65-F5344CB8AC3E}">
        <p14:creationId xmlns:p14="http://schemas.microsoft.com/office/powerpoint/2010/main" val="489222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5077A-9488-CBD8-14BB-A904AAD246E5}"/>
              </a:ext>
            </a:extLst>
          </p:cNvPr>
          <p:cNvSpPr>
            <a:spLocks noGrp="1"/>
          </p:cNvSpPr>
          <p:nvPr>
            <p:ph type="title"/>
          </p:nvPr>
        </p:nvSpPr>
        <p:spPr>
          <a:xfrm>
            <a:off x="1069848" y="68996"/>
            <a:ext cx="10058400" cy="1236337"/>
          </a:xfrm>
        </p:spPr>
        <p:txBody>
          <a:bodyPr/>
          <a:lstStyle/>
          <a:p>
            <a:r>
              <a:rPr lang="en-US" sz="1800" dirty="0">
                <a:solidFill>
                  <a:srgbClr val="000000"/>
                </a:solidFill>
              </a:rPr>
              <a:t>K8S COMPONENTS (NODE)</a:t>
            </a:r>
            <a:br>
              <a:rPr lang="en-US" sz="1800" dirty="0">
                <a:solidFill>
                  <a:srgbClr val="000000"/>
                </a:solidFill>
              </a:rPr>
            </a:br>
            <a:br>
              <a:rPr lang="en-US" sz="1800" dirty="0">
                <a:solidFill>
                  <a:srgbClr val="000000"/>
                </a:solidFill>
              </a:rPr>
            </a:br>
            <a:r>
              <a:rPr lang="en-US" sz="1800" dirty="0">
                <a:solidFill>
                  <a:srgbClr val="000000"/>
                </a:solidFill>
              </a:rPr>
              <a:t>HTTPS://KUBERNETES.IO/DOCS/CONCEPTS/OVERVIEW/COMPONENTS/HTTPS://KUBERNETES.IO/DOCS/CONCEPTS/OVERVIEW/COMPONENTS/</a:t>
            </a:r>
            <a:endParaRPr lang="en-US" dirty="0"/>
          </a:p>
        </p:txBody>
      </p:sp>
      <p:sp>
        <p:nvSpPr>
          <p:cNvPr id="3" name="Content Placeholder 2">
            <a:extLst>
              <a:ext uri="{FF2B5EF4-FFF2-40B4-BE49-F238E27FC236}">
                <a16:creationId xmlns:a16="http://schemas.microsoft.com/office/drawing/2014/main" id="{E009AC57-DF65-8FC8-78C0-A3692F023E58}"/>
              </a:ext>
            </a:extLst>
          </p:cNvPr>
          <p:cNvSpPr>
            <a:spLocks noGrp="1"/>
          </p:cNvSpPr>
          <p:nvPr>
            <p:ph sz="half" idx="1"/>
          </p:nvPr>
        </p:nvSpPr>
        <p:spPr>
          <a:xfrm>
            <a:off x="1069848" y="1469861"/>
            <a:ext cx="4754880" cy="4702339"/>
          </a:xfrm>
        </p:spPr>
        <p:txBody>
          <a:bodyPr vert="horz" lIns="91440" tIns="45720" rIns="91440" bIns="45720" rtlCol="0" anchor="t">
            <a:normAutofit/>
          </a:bodyPr>
          <a:lstStyle/>
          <a:p>
            <a:r>
              <a:rPr lang="en-US" dirty="0" err="1"/>
              <a:t>Kubelet</a:t>
            </a:r>
          </a:p>
          <a:p>
            <a:pPr marL="457200" indent="-457200">
              <a:buClr>
                <a:srgbClr val="9E3611"/>
              </a:buClr>
              <a:buAutoNum type="arabicPeriod"/>
            </a:pPr>
            <a:r>
              <a:rPr lang="en-US" dirty="0">
                <a:solidFill>
                  <a:srgbClr val="07242D"/>
                </a:solidFill>
                <a:ea typeface="+mn-lt"/>
                <a:cs typeface="+mn-lt"/>
              </a:rPr>
              <a:t>The </a:t>
            </a:r>
            <a:r>
              <a:rPr lang="en-US" err="1">
                <a:solidFill>
                  <a:srgbClr val="07242D"/>
                </a:solidFill>
                <a:ea typeface="+mn-lt"/>
                <a:cs typeface="+mn-lt"/>
              </a:rPr>
              <a:t>Kubelet</a:t>
            </a:r>
            <a:r>
              <a:rPr lang="en-US" dirty="0">
                <a:solidFill>
                  <a:srgbClr val="07242D"/>
                </a:solidFill>
                <a:ea typeface="+mn-lt"/>
                <a:cs typeface="+mn-lt"/>
              </a:rPr>
              <a:t> is responsible for managing the deployment of pods to Kubernetes nodes. </a:t>
            </a:r>
            <a:endParaRPr lang="en-US" dirty="0">
              <a:solidFill>
                <a:srgbClr val="000000"/>
              </a:solidFill>
              <a:ea typeface="+mn-lt"/>
              <a:cs typeface="+mn-lt"/>
            </a:endParaRPr>
          </a:p>
          <a:p>
            <a:pPr marL="457200" indent="-457200">
              <a:buClr>
                <a:srgbClr val="9E3611"/>
              </a:buClr>
              <a:buAutoNum type="arabicPeriod"/>
            </a:pPr>
            <a:r>
              <a:rPr lang="en-US" dirty="0">
                <a:solidFill>
                  <a:srgbClr val="07242D"/>
                </a:solidFill>
                <a:ea typeface="+mn-lt"/>
                <a:cs typeface="+mn-lt"/>
              </a:rPr>
              <a:t>It receives commands from the API server and instructs the container runtime to start or stop containers as needed.</a:t>
            </a:r>
          </a:p>
          <a:p>
            <a:pPr marL="457200" indent="-457200">
              <a:buClr>
                <a:srgbClr val="9E3611"/>
              </a:buClr>
              <a:buAutoNum type="arabicPeriod"/>
            </a:pPr>
            <a:r>
              <a:rPr lang="en-US" dirty="0">
                <a:solidFill>
                  <a:srgbClr val="07242D"/>
                </a:solidFill>
              </a:rPr>
              <a:t>Agent running on node which creates pods on request</a:t>
            </a:r>
          </a:p>
        </p:txBody>
      </p:sp>
      <p:sp>
        <p:nvSpPr>
          <p:cNvPr id="4" name="Content Placeholder 3">
            <a:extLst>
              <a:ext uri="{FF2B5EF4-FFF2-40B4-BE49-F238E27FC236}">
                <a16:creationId xmlns:a16="http://schemas.microsoft.com/office/drawing/2014/main" id="{FBAFF1D1-0442-2F0A-16F1-58059E7B73FD}"/>
              </a:ext>
            </a:extLst>
          </p:cNvPr>
          <p:cNvSpPr>
            <a:spLocks noGrp="1"/>
          </p:cNvSpPr>
          <p:nvPr>
            <p:ph sz="half" idx="2"/>
          </p:nvPr>
        </p:nvSpPr>
        <p:spPr>
          <a:xfrm>
            <a:off x="6364224" y="1320658"/>
            <a:ext cx="4754880" cy="4851542"/>
          </a:xfrm>
        </p:spPr>
        <p:txBody>
          <a:bodyPr vert="horz" lIns="91440" tIns="45720" rIns="91440" bIns="45720" rtlCol="0" anchor="t">
            <a:normAutofit/>
          </a:bodyPr>
          <a:lstStyle/>
          <a:p>
            <a:r>
              <a:rPr lang="en-US" dirty="0"/>
              <a:t>Kube-Proxy</a:t>
            </a:r>
          </a:p>
          <a:p>
            <a:pPr marL="228600" indent="-228600">
              <a:buClr>
                <a:srgbClr val="9E3611"/>
              </a:buClr>
              <a:buAutoNum type="arabicPeriod"/>
            </a:pPr>
            <a:r>
              <a:rPr lang="en-US" dirty="0">
                <a:solidFill>
                  <a:srgbClr val="07242D"/>
                </a:solidFill>
                <a:ea typeface="+mn-lt"/>
                <a:cs typeface="+mn-lt"/>
              </a:rPr>
              <a:t>A network proxy running on each Kubernetes node.</a:t>
            </a:r>
            <a:endParaRPr lang="en-US" dirty="0">
              <a:solidFill>
                <a:srgbClr val="000000"/>
              </a:solidFill>
              <a:ea typeface="+mn-lt"/>
              <a:cs typeface="+mn-lt"/>
            </a:endParaRPr>
          </a:p>
          <a:p>
            <a:pPr marL="228600" indent="-228600">
              <a:buClr>
                <a:srgbClr val="9E3611"/>
              </a:buClr>
              <a:buAutoNum type="arabicPeriod"/>
            </a:pPr>
            <a:r>
              <a:rPr lang="en-US" dirty="0">
                <a:solidFill>
                  <a:srgbClr val="07242D"/>
                </a:solidFill>
                <a:ea typeface="+mn-lt"/>
                <a:cs typeface="+mn-lt"/>
              </a:rPr>
              <a:t> It is responsible for maintaining network rules on each node. Network rules enable network communication between nodes and pods.</a:t>
            </a:r>
            <a:endParaRPr lang="en-US" dirty="0">
              <a:solidFill>
                <a:srgbClr val="000000"/>
              </a:solidFill>
              <a:ea typeface="+mn-lt"/>
              <a:cs typeface="+mn-lt"/>
            </a:endParaRPr>
          </a:p>
          <a:p>
            <a:pPr marL="228600" indent="-228600">
              <a:buClr>
                <a:srgbClr val="9E3611"/>
              </a:buClr>
              <a:buAutoNum type="arabicPeriod"/>
            </a:pPr>
            <a:r>
              <a:rPr lang="en-US" dirty="0">
                <a:solidFill>
                  <a:srgbClr val="07242D"/>
                </a:solidFill>
                <a:ea typeface="+mn-lt"/>
                <a:cs typeface="+mn-lt"/>
              </a:rPr>
              <a:t> Assignment of IP to pods </a:t>
            </a:r>
            <a:r>
              <a:rPr lang="en-US" dirty="0" err="1">
                <a:solidFill>
                  <a:srgbClr val="07242D"/>
                </a:solidFill>
                <a:ea typeface="+mn-lt"/>
                <a:cs typeface="+mn-lt"/>
              </a:rPr>
              <a:t>etc</a:t>
            </a:r>
            <a:r>
              <a:rPr lang="en-US" dirty="0">
                <a:solidFill>
                  <a:srgbClr val="07242D"/>
                </a:solidFill>
                <a:ea typeface="+mn-lt"/>
                <a:cs typeface="+mn-lt"/>
              </a:rPr>
              <a:t> is done by </a:t>
            </a:r>
            <a:r>
              <a:rPr lang="en-US" dirty="0" err="1">
                <a:solidFill>
                  <a:srgbClr val="07242D"/>
                </a:solidFill>
                <a:ea typeface="+mn-lt"/>
                <a:cs typeface="+mn-lt"/>
              </a:rPr>
              <a:t>kubeproxy</a:t>
            </a:r>
            <a:br>
              <a:rPr lang="en-US" dirty="0"/>
            </a:br>
            <a:endParaRPr lang="en-US" dirty="0"/>
          </a:p>
        </p:txBody>
      </p:sp>
      <p:sp>
        <p:nvSpPr>
          <p:cNvPr id="5" name="Footer Placeholder 4">
            <a:extLst>
              <a:ext uri="{FF2B5EF4-FFF2-40B4-BE49-F238E27FC236}">
                <a16:creationId xmlns:a16="http://schemas.microsoft.com/office/drawing/2014/main" id="{78682B43-8563-BEC7-7EEE-A200FE0BD472}"/>
              </a:ext>
            </a:extLst>
          </p:cNvPr>
          <p:cNvSpPr>
            <a:spLocks noGrp="1"/>
          </p:cNvSpPr>
          <p:nvPr>
            <p:ph type="ftr" sz="quarter" idx="11"/>
          </p:nvPr>
        </p:nvSpPr>
        <p:spPr/>
        <p:txBody>
          <a:bodyPr/>
          <a:lstStyle/>
          <a:p>
            <a:r>
              <a:rPr lang="en-US"/>
              <a:t>by:- Shantanu Mahajan (Velocity)</a:t>
            </a:r>
          </a:p>
        </p:txBody>
      </p:sp>
    </p:spTree>
    <p:extLst>
      <p:ext uri="{BB962C8B-B14F-4D97-AF65-F5344CB8AC3E}">
        <p14:creationId xmlns:p14="http://schemas.microsoft.com/office/powerpoint/2010/main" val="3833920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5077A-9488-CBD8-14BB-A904AAD246E5}"/>
              </a:ext>
            </a:extLst>
          </p:cNvPr>
          <p:cNvSpPr>
            <a:spLocks noGrp="1"/>
          </p:cNvSpPr>
          <p:nvPr>
            <p:ph type="title"/>
          </p:nvPr>
        </p:nvSpPr>
        <p:spPr>
          <a:xfrm>
            <a:off x="1069848" y="68996"/>
            <a:ext cx="10058400" cy="1236337"/>
          </a:xfrm>
        </p:spPr>
        <p:txBody>
          <a:bodyPr/>
          <a:lstStyle/>
          <a:p>
            <a:r>
              <a:rPr lang="en-US" sz="1800" dirty="0">
                <a:solidFill>
                  <a:srgbClr val="000000"/>
                </a:solidFill>
              </a:rPr>
              <a:t>K8S COMPONENTS (NODE)</a:t>
            </a:r>
            <a:br>
              <a:rPr lang="en-US" sz="1800" dirty="0">
                <a:solidFill>
                  <a:srgbClr val="000000"/>
                </a:solidFill>
              </a:rPr>
            </a:br>
            <a:br>
              <a:rPr lang="en-US" sz="1800" dirty="0">
                <a:solidFill>
                  <a:srgbClr val="000000"/>
                </a:solidFill>
              </a:rPr>
            </a:br>
            <a:r>
              <a:rPr lang="en-US" sz="1800" dirty="0">
                <a:solidFill>
                  <a:srgbClr val="000000"/>
                </a:solidFill>
              </a:rPr>
              <a:t>HTTPS://KUBERNETES.IO/DOCS/CONCEPTS/OVERVIEW/COMPONENTS/HTTPS://KUBERNETES.IO/DOCS/CONCEPTS/OVERVIEW/COMPONENTS/</a:t>
            </a:r>
            <a:endParaRPr lang="en-US" dirty="0"/>
          </a:p>
        </p:txBody>
      </p:sp>
      <p:sp>
        <p:nvSpPr>
          <p:cNvPr id="3" name="Content Placeholder 2">
            <a:extLst>
              <a:ext uri="{FF2B5EF4-FFF2-40B4-BE49-F238E27FC236}">
                <a16:creationId xmlns:a16="http://schemas.microsoft.com/office/drawing/2014/main" id="{E009AC57-DF65-8FC8-78C0-A3692F023E58}"/>
              </a:ext>
            </a:extLst>
          </p:cNvPr>
          <p:cNvSpPr>
            <a:spLocks noGrp="1"/>
          </p:cNvSpPr>
          <p:nvPr>
            <p:ph sz="half" idx="1"/>
          </p:nvPr>
        </p:nvSpPr>
        <p:spPr>
          <a:xfrm>
            <a:off x="1069848" y="1469861"/>
            <a:ext cx="4754880" cy="4702339"/>
          </a:xfrm>
        </p:spPr>
        <p:txBody>
          <a:bodyPr vert="horz" lIns="91440" tIns="45720" rIns="91440" bIns="45720" rtlCol="0" anchor="t">
            <a:normAutofit/>
          </a:bodyPr>
          <a:lstStyle/>
          <a:p>
            <a:r>
              <a:rPr lang="en-US" dirty="0">
                <a:solidFill>
                  <a:srgbClr val="363636"/>
                </a:solidFill>
              </a:rPr>
              <a:t>Container-Runtime</a:t>
            </a:r>
            <a:endParaRPr lang="en-US" b="1" dirty="0">
              <a:solidFill>
                <a:srgbClr val="363636"/>
              </a:solidFill>
            </a:endParaRPr>
          </a:p>
          <a:p>
            <a:pPr marL="457200" indent="-457200">
              <a:buClr>
                <a:srgbClr val="9E3611"/>
              </a:buClr>
              <a:buAutoNum type="arabicPeriod"/>
            </a:pPr>
            <a:r>
              <a:rPr lang="en-US" dirty="0">
                <a:solidFill>
                  <a:srgbClr val="07242D"/>
                </a:solidFill>
                <a:ea typeface="+mn-lt"/>
                <a:cs typeface="+mn-lt"/>
              </a:rPr>
              <a:t>The software layer responsible for running containers. </a:t>
            </a:r>
            <a:endParaRPr lang="en-US" dirty="0">
              <a:solidFill>
                <a:srgbClr val="363636"/>
              </a:solidFill>
              <a:ea typeface="+mn-lt"/>
              <a:cs typeface="+mn-lt"/>
            </a:endParaRPr>
          </a:p>
          <a:p>
            <a:pPr marL="457200" indent="-457200">
              <a:buClr>
                <a:srgbClr val="9E3611"/>
              </a:buClr>
              <a:buAutoNum type="arabicPeriod"/>
            </a:pPr>
            <a:r>
              <a:rPr lang="en-US" dirty="0">
                <a:solidFill>
                  <a:srgbClr val="07242D"/>
                </a:solidFill>
                <a:ea typeface="+mn-lt"/>
                <a:cs typeface="+mn-lt"/>
              </a:rPr>
              <a:t>There are several container runtimes supported by Kubernetes, including </a:t>
            </a:r>
            <a:r>
              <a:rPr lang="en-US" dirty="0" err="1">
                <a:solidFill>
                  <a:srgbClr val="07242D"/>
                </a:solidFill>
                <a:ea typeface="+mn-lt"/>
                <a:cs typeface="+mn-lt"/>
              </a:rPr>
              <a:t>Containerd</a:t>
            </a:r>
            <a:r>
              <a:rPr lang="en-US" dirty="0">
                <a:solidFill>
                  <a:srgbClr val="07242D"/>
                </a:solidFill>
                <a:ea typeface="+mn-lt"/>
                <a:cs typeface="+mn-lt"/>
              </a:rPr>
              <a:t>, CRI-O, Docker, and other Kubernetes Container Runtime Interface (CRI) implementations.</a:t>
            </a:r>
            <a:endParaRPr lang="en-US">
              <a:solidFill>
                <a:srgbClr val="363636"/>
              </a:solidFill>
            </a:endParaRPr>
          </a:p>
          <a:p>
            <a:pPr>
              <a:buClr>
                <a:srgbClr val="9E3611"/>
              </a:buClr>
            </a:pPr>
            <a:endParaRPr lang="en-US" dirty="0">
              <a:solidFill>
                <a:srgbClr val="000000"/>
              </a:solidFill>
            </a:endParaRPr>
          </a:p>
        </p:txBody>
      </p:sp>
      <p:sp>
        <p:nvSpPr>
          <p:cNvPr id="4" name="Content Placeholder 3">
            <a:extLst>
              <a:ext uri="{FF2B5EF4-FFF2-40B4-BE49-F238E27FC236}">
                <a16:creationId xmlns:a16="http://schemas.microsoft.com/office/drawing/2014/main" id="{FBAFF1D1-0442-2F0A-16F1-58059E7B73FD}"/>
              </a:ext>
            </a:extLst>
          </p:cNvPr>
          <p:cNvSpPr>
            <a:spLocks noGrp="1"/>
          </p:cNvSpPr>
          <p:nvPr>
            <p:ph sz="half" idx="2"/>
          </p:nvPr>
        </p:nvSpPr>
        <p:spPr>
          <a:xfrm>
            <a:off x="6364224" y="1320658"/>
            <a:ext cx="4754880" cy="4851542"/>
          </a:xfrm>
        </p:spPr>
        <p:txBody>
          <a:bodyPr vert="horz" lIns="91440" tIns="45720" rIns="91440" bIns="45720" rtlCol="0" anchor="t">
            <a:normAutofit/>
          </a:bodyPr>
          <a:lstStyle/>
          <a:p>
            <a:r>
              <a:rPr lang="en-US" dirty="0"/>
              <a:t>Pod</a:t>
            </a:r>
          </a:p>
          <a:p>
            <a:pPr marL="457200" indent="-457200">
              <a:buClr>
                <a:srgbClr val="9E3611"/>
              </a:buClr>
              <a:buAutoNum type="arabicPeriod"/>
            </a:pPr>
            <a:r>
              <a:rPr lang="en-US" dirty="0"/>
              <a:t>Smallest unit of k8s.</a:t>
            </a:r>
          </a:p>
          <a:p>
            <a:pPr marL="457200" indent="-457200">
              <a:buClr>
                <a:srgbClr val="9E3611"/>
              </a:buClr>
              <a:buAutoNum type="arabicPeriod"/>
            </a:pPr>
            <a:r>
              <a:rPr lang="en-US" dirty="0"/>
              <a:t>Its group of one or more containers</a:t>
            </a:r>
            <a:br>
              <a:rPr lang="en-US" dirty="0"/>
            </a:br>
            <a:endParaRPr lang="en-US"/>
          </a:p>
        </p:txBody>
      </p:sp>
      <p:sp>
        <p:nvSpPr>
          <p:cNvPr id="5" name="Footer Placeholder 4">
            <a:extLst>
              <a:ext uri="{FF2B5EF4-FFF2-40B4-BE49-F238E27FC236}">
                <a16:creationId xmlns:a16="http://schemas.microsoft.com/office/drawing/2014/main" id="{B854150D-247E-1A62-C86C-54A4A328F2AA}"/>
              </a:ext>
            </a:extLst>
          </p:cNvPr>
          <p:cNvSpPr>
            <a:spLocks noGrp="1"/>
          </p:cNvSpPr>
          <p:nvPr>
            <p:ph type="ftr" sz="quarter" idx="11"/>
          </p:nvPr>
        </p:nvSpPr>
        <p:spPr/>
        <p:txBody>
          <a:bodyPr/>
          <a:lstStyle/>
          <a:p>
            <a:r>
              <a:rPr lang="en-US"/>
              <a:t>by:- Shantanu Mahajan (Velocity)</a:t>
            </a:r>
          </a:p>
        </p:txBody>
      </p:sp>
    </p:spTree>
    <p:extLst>
      <p:ext uri="{BB962C8B-B14F-4D97-AF65-F5344CB8AC3E}">
        <p14:creationId xmlns:p14="http://schemas.microsoft.com/office/powerpoint/2010/main" val="441684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7476E-F107-E786-33FA-BACC4FC586D5}"/>
              </a:ext>
            </a:extLst>
          </p:cNvPr>
          <p:cNvSpPr>
            <a:spLocks noGrp="1"/>
          </p:cNvSpPr>
          <p:nvPr>
            <p:ph type="title"/>
          </p:nvPr>
        </p:nvSpPr>
        <p:spPr/>
        <p:txBody>
          <a:bodyPr/>
          <a:lstStyle/>
          <a:p>
            <a:r>
              <a:rPr lang="en-US" dirty="0"/>
              <a:t>Kubernetes configuration</a:t>
            </a:r>
          </a:p>
        </p:txBody>
      </p:sp>
      <p:sp>
        <p:nvSpPr>
          <p:cNvPr id="3" name="Content Placeholder 2">
            <a:extLst>
              <a:ext uri="{FF2B5EF4-FFF2-40B4-BE49-F238E27FC236}">
                <a16:creationId xmlns:a16="http://schemas.microsoft.com/office/drawing/2014/main" id="{3FF7A71A-475B-BE1F-A6F8-EF05D7DE7988}"/>
              </a:ext>
            </a:extLst>
          </p:cNvPr>
          <p:cNvSpPr>
            <a:spLocks noGrp="1"/>
          </p:cNvSpPr>
          <p:nvPr>
            <p:ph idx="1"/>
          </p:nvPr>
        </p:nvSpPr>
        <p:spPr/>
        <p:txBody>
          <a:bodyPr vert="horz" lIns="91440" tIns="45720" rIns="91440" bIns="45720" rtlCol="0" anchor="t">
            <a:normAutofit/>
          </a:bodyPr>
          <a:lstStyle/>
          <a:p>
            <a:pPr marL="457200" indent="-457200">
              <a:buAutoNum type="arabicPeriod"/>
            </a:pPr>
            <a:r>
              <a:rPr lang="en-US" dirty="0"/>
              <a:t>Single node configuration:-</a:t>
            </a:r>
          </a:p>
          <a:p>
            <a:pPr marL="0" indent="0">
              <a:buClr>
                <a:srgbClr val="9E3611"/>
              </a:buClr>
              <a:buNone/>
            </a:pPr>
            <a:r>
              <a:rPr lang="en-US" dirty="0"/>
              <a:t>                       Here the master and worker node is on the same machine(VM). This is basically used to learn k8s and in dev </a:t>
            </a:r>
            <a:r>
              <a:rPr lang="en-US" dirty="0" err="1"/>
              <a:t>envs</a:t>
            </a:r>
            <a:r>
              <a:rPr lang="en-US" dirty="0"/>
              <a:t>.</a:t>
            </a:r>
          </a:p>
          <a:p>
            <a:pPr marL="0" indent="0">
              <a:buNone/>
            </a:pPr>
            <a:r>
              <a:rPr lang="en-US" dirty="0" err="1"/>
              <a:t>Eg</a:t>
            </a:r>
            <a:r>
              <a:rPr lang="en-US" dirty="0"/>
              <a:t>: </a:t>
            </a:r>
            <a:r>
              <a:rPr lang="en-US" dirty="0" err="1"/>
              <a:t>minikube</a:t>
            </a:r>
            <a:endParaRPr lang="en-US" dirty="0"/>
          </a:p>
          <a:p>
            <a:pPr marL="0" indent="0">
              <a:buNone/>
            </a:pPr>
            <a:endParaRPr lang="en-US" dirty="0"/>
          </a:p>
          <a:p>
            <a:pPr marL="0" indent="0">
              <a:buNone/>
            </a:pPr>
            <a:r>
              <a:rPr lang="en-US" dirty="0"/>
              <a:t>2.  Single Master, Single ETCD, and Multiple Node installation:-</a:t>
            </a:r>
          </a:p>
          <a:p>
            <a:pPr marL="0" indent="0">
              <a:buNone/>
            </a:pPr>
            <a:r>
              <a:rPr lang="en-US" dirty="0"/>
              <a:t>           Basically used for test </a:t>
            </a:r>
            <a:r>
              <a:rPr lang="en-US" dirty="0" err="1"/>
              <a:t>envs</a:t>
            </a:r>
            <a:r>
              <a:rPr lang="en-US" dirty="0"/>
              <a:t> and sometimes for light production </a:t>
            </a:r>
            <a:r>
              <a:rPr lang="en-US" dirty="0" err="1"/>
              <a:t>envs</a:t>
            </a:r>
            <a:r>
              <a:rPr lang="en-US" dirty="0"/>
              <a:t> as well.</a:t>
            </a:r>
          </a:p>
          <a:p>
            <a:pPr marL="0" indent="0">
              <a:buNone/>
            </a:pPr>
            <a:r>
              <a:rPr lang="en-US" dirty="0"/>
              <a:t>3. Single node ETCD, Multi Master, Multi Node:-</a:t>
            </a:r>
          </a:p>
          <a:p>
            <a:pPr marL="0" indent="0">
              <a:buNone/>
            </a:pPr>
            <a:r>
              <a:rPr lang="en-US" dirty="0"/>
              <a:t>          Used for 24 * 7 production </a:t>
            </a:r>
            <a:r>
              <a:rPr lang="en-US" dirty="0" err="1"/>
              <a:t>envs</a:t>
            </a:r>
            <a:r>
              <a:rPr lang="en-US" dirty="0"/>
              <a:t>.</a:t>
            </a:r>
          </a:p>
        </p:txBody>
      </p:sp>
      <p:sp>
        <p:nvSpPr>
          <p:cNvPr id="4" name="Footer Placeholder 3">
            <a:extLst>
              <a:ext uri="{FF2B5EF4-FFF2-40B4-BE49-F238E27FC236}">
                <a16:creationId xmlns:a16="http://schemas.microsoft.com/office/drawing/2014/main" id="{EC6144AE-328A-E9BD-7B6F-6038D58ACF22}"/>
              </a:ext>
            </a:extLst>
          </p:cNvPr>
          <p:cNvSpPr>
            <a:spLocks noGrp="1"/>
          </p:cNvSpPr>
          <p:nvPr>
            <p:ph type="ftr" sz="quarter" idx="11"/>
          </p:nvPr>
        </p:nvSpPr>
        <p:spPr/>
        <p:txBody>
          <a:bodyPr/>
          <a:lstStyle/>
          <a:p>
            <a:r>
              <a:rPr lang="en-US"/>
              <a:t>by:- Shantanu Mahajan (Velocity)</a:t>
            </a:r>
          </a:p>
        </p:txBody>
      </p:sp>
    </p:spTree>
    <p:extLst>
      <p:ext uri="{BB962C8B-B14F-4D97-AF65-F5344CB8AC3E}">
        <p14:creationId xmlns:p14="http://schemas.microsoft.com/office/powerpoint/2010/main" val="13174430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17</Slides>
  <Notes>0</Notes>
  <HiddenSlides>1</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Wood Type</vt:lpstr>
      <vt:lpstr>kubernetes</vt:lpstr>
      <vt:lpstr>Monolithic vs microservices</vt:lpstr>
      <vt:lpstr>Disadvantages</vt:lpstr>
      <vt:lpstr>PowerPoint Presentation</vt:lpstr>
      <vt:lpstr>microservices</vt:lpstr>
      <vt:lpstr>Advantages of microservices</vt:lpstr>
      <vt:lpstr>Kubernetes</vt:lpstr>
      <vt:lpstr>Why you need Kubernetes and what it can do </vt:lpstr>
      <vt:lpstr>Features of k8s</vt:lpstr>
      <vt:lpstr>Architecture of k8s</vt:lpstr>
      <vt:lpstr>PowerPoint Presentation</vt:lpstr>
      <vt:lpstr>K8s components (master)  https://kubernetes.io/docs/concepts/overview/components/https://kubernetes.io/docs/concepts/overview/components/</vt:lpstr>
      <vt:lpstr>K8s components (master)</vt:lpstr>
      <vt:lpstr>Control-manager</vt:lpstr>
      <vt:lpstr>K8S COMPONENTS (NODE)  HTTPS://KUBERNETES.IO/DOCS/CONCEPTS/OVERVIEW/COMPONENTS/HTTPS://KUBERNETES.IO/DOCS/CONCEPTS/OVERVIEW/COMPONENTS/</vt:lpstr>
      <vt:lpstr>K8S COMPONENTS (NODE)  HTTPS://KUBERNETES.IO/DOCS/CONCEPTS/OVERVIEW/COMPONENTS/HTTPS://KUBERNETES.IO/DOCS/CONCEPTS/OVERVIEW/COMPONENTS/</vt:lpstr>
      <vt:lpstr>Kubernetes configuration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340</cp:revision>
  <dcterms:created xsi:type="dcterms:W3CDTF">2023-09-15T12:07:34Z</dcterms:created>
  <dcterms:modified xsi:type="dcterms:W3CDTF">2023-09-29T12:47:38Z</dcterms:modified>
</cp:coreProperties>
</file>