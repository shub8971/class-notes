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98" autoAdjust="0"/>
    <p:restoredTop sz="94660"/>
  </p:normalViewPr>
  <p:slideViewPr>
    <p:cSldViewPr snapToGrid="0">
      <p:cViewPr varScale="1">
        <p:scale>
          <a:sx n="88" d="100"/>
          <a:sy n="88" d="100"/>
        </p:scale>
        <p:origin x="81"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FCB1D7A-F50B-4CFC-9DA4-3B84AE1FFC58}" type="datetimeFigureOut">
              <a:rPr lang="en-IN" smtClean="0"/>
              <a:t>21-01-2023</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507A23D1-B370-4055-8366-8EC1AF8C3D3C}"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87510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CB1D7A-F50B-4CFC-9DA4-3B84AE1FFC58}" type="datetimeFigureOut">
              <a:rPr lang="en-IN" smtClean="0"/>
              <a:t>21-01-2023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7A23D1-B370-4055-8366-8EC1AF8C3D3C}"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36417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CB1D7A-F50B-4CFC-9DA4-3B84AE1FFC58}" type="datetimeFigureOut">
              <a:rPr lang="en-IN" smtClean="0"/>
              <a:t>21-01-2023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7A23D1-B370-4055-8366-8EC1AF8C3D3C}"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5201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FCB1D7A-F50B-4CFC-9DA4-3B84AE1FFC58}" type="datetimeFigureOut">
              <a:rPr lang="en-IN" smtClean="0"/>
              <a:t>21-01-2023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7A23D1-B370-4055-8366-8EC1AF8C3D3C}"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92475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FCB1D7A-F50B-4CFC-9DA4-3B84AE1FFC58}" type="datetimeFigureOut">
              <a:rPr lang="en-IN" smtClean="0"/>
              <a:t>21-01-2023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07A23D1-B370-4055-8366-8EC1AF8C3D3C}"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6439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FCB1D7A-F50B-4CFC-9DA4-3B84AE1FFC58}" type="datetimeFigureOut">
              <a:rPr lang="en-IN" smtClean="0"/>
              <a:t>21-01-2023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07A23D1-B370-4055-8366-8EC1AF8C3D3C}"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96239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CB1D7A-F50B-4CFC-9DA4-3B84AE1FFC58}" type="datetimeFigureOut">
              <a:rPr lang="en-IN" smtClean="0"/>
              <a:t>21-01-2023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07A23D1-B370-4055-8366-8EC1AF8C3D3C}" type="slidenum">
              <a:rPr lang="en-IN" smtClean="0"/>
              <a:t>‹#›</a:t>
            </a:fld>
            <a:endParaRPr lang="en-IN"/>
          </a:p>
        </p:txBody>
      </p:sp>
    </p:spTree>
    <p:extLst>
      <p:ext uri="{BB962C8B-B14F-4D97-AF65-F5344CB8AC3E}">
        <p14:creationId xmlns:p14="http://schemas.microsoft.com/office/powerpoint/2010/main" val="226334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FCB1D7A-F50B-4CFC-9DA4-3B84AE1FFC58}" type="datetimeFigureOut">
              <a:rPr lang="en-IN" smtClean="0"/>
              <a:t>21-01-2023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7A23D1-B370-4055-8366-8EC1AF8C3D3C}"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80126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FFCB1D7A-F50B-4CFC-9DA4-3B84AE1FFC58}" type="datetimeFigureOut">
              <a:rPr lang="en-IN" smtClean="0"/>
              <a:t>21-01-2023</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507A23D1-B370-4055-8366-8EC1AF8C3D3C}"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98550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CB1D7A-F50B-4CFC-9DA4-3B84AE1FFC58}" type="datetimeFigureOut">
              <a:rPr lang="en-IN" smtClean="0"/>
              <a:t>21-01-2023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7A23D1-B370-4055-8366-8EC1AF8C3D3C}"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807243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CB1D7A-F50B-4CFC-9DA4-3B84AE1FFC58}" type="datetimeFigureOut">
              <a:rPr lang="en-IN" smtClean="0"/>
              <a:t>21-01-2023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7A23D1-B370-4055-8366-8EC1AF8C3D3C}"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36405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FFCB1D7A-F50B-4CFC-9DA4-3B84AE1FFC58}" type="datetimeFigureOut">
              <a:rPr lang="en-IN" smtClean="0"/>
              <a:t>21-01-2023</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507A23D1-B370-4055-8366-8EC1AF8C3D3C}"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60588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hashicorp.com/resources/what-is-mutable-vs-immutable-infrastructur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registry.terraform.io/browse/providers" TargetMode="External"/><Relationship Id="rId2" Type="http://schemas.openxmlformats.org/officeDocument/2006/relationships/hyperlink" Target="https://registry.terraform.io/"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hashicorp/hcl/blob/main/hclsyntax/spec.md"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5A627-F25D-7881-47D2-46FEBC9B0BDD}"/>
              </a:ext>
            </a:extLst>
          </p:cNvPr>
          <p:cNvSpPr>
            <a:spLocks noGrp="1"/>
          </p:cNvSpPr>
          <p:nvPr>
            <p:ph type="ctrTitle"/>
          </p:nvPr>
        </p:nvSpPr>
        <p:spPr/>
        <p:txBody>
          <a:bodyPr/>
          <a:lstStyle/>
          <a:p>
            <a:r>
              <a:rPr lang="en-US" dirty="0"/>
              <a:t>Terraform</a:t>
            </a:r>
            <a:endParaRPr lang="en-IN" dirty="0"/>
          </a:p>
        </p:txBody>
      </p:sp>
      <p:sp>
        <p:nvSpPr>
          <p:cNvPr id="3" name="Subtitle 2">
            <a:extLst>
              <a:ext uri="{FF2B5EF4-FFF2-40B4-BE49-F238E27FC236}">
                <a16:creationId xmlns:a16="http://schemas.microsoft.com/office/drawing/2014/main" id="{E174754F-1A44-03E8-27A5-90B8A43FC5ED}"/>
              </a:ext>
            </a:extLst>
          </p:cNvPr>
          <p:cNvSpPr>
            <a:spLocks noGrp="1"/>
          </p:cNvSpPr>
          <p:nvPr>
            <p:ph type="subTitle" idx="1"/>
          </p:nvPr>
        </p:nvSpPr>
        <p:spPr/>
        <p:txBody>
          <a:bodyPr/>
          <a:lstStyle/>
          <a:p>
            <a:pPr marL="285750" indent="-285750">
              <a:buFontTx/>
              <a:buChar char="-"/>
            </a:pPr>
            <a:r>
              <a:rPr lang="en-US" dirty="0"/>
              <a:t>Shantanu Mahajan</a:t>
            </a:r>
          </a:p>
          <a:p>
            <a:pPr marL="285750" indent="-285750">
              <a:buFontTx/>
              <a:buChar char="-"/>
            </a:pPr>
            <a:r>
              <a:rPr lang="en-US" dirty="0"/>
              <a:t>Sr </a:t>
            </a:r>
            <a:r>
              <a:rPr lang="en-US" dirty="0" err="1"/>
              <a:t>engg</a:t>
            </a:r>
            <a:r>
              <a:rPr lang="en-US" dirty="0"/>
              <a:t> </a:t>
            </a:r>
            <a:r>
              <a:rPr lang="en-US" dirty="0" err="1"/>
              <a:t>devops</a:t>
            </a:r>
            <a:endParaRPr lang="en-IN" dirty="0"/>
          </a:p>
        </p:txBody>
      </p:sp>
    </p:spTree>
    <p:extLst>
      <p:ext uri="{BB962C8B-B14F-4D97-AF65-F5344CB8AC3E}">
        <p14:creationId xmlns:p14="http://schemas.microsoft.com/office/powerpoint/2010/main" val="4264508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0A9C7-FC83-3127-2B64-FAAD69A63E17}"/>
              </a:ext>
            </a:extLst>
          </p:cNvPr>
          <p:cNvSpPr>
            <a:spLocks noGrp="1"/>
          </p:cNvSpPr>
          <p:nvPr>
            <p:ph type="title"/>
          </p:nvPr>
        </p:nvSpPr>
        <p:spPr/>
        <p:txBody>
          <a:bodyPr/>
          <a:lstStyle/>
          <a:p>
            <a:r>
              <a:rPr lang="en-US" dirty="0"/>
              <a:t>Infrastructure as a code (</a:t>
            </a:r>
            <a:r>
              <a:rPr lang="en-US" dirty="0" err="1"/>
              <a:t>Iaac</a:t>
            </a:r>
            <a:r>
              <a:rPr lang="en-US" dirty="0"/>
              <a:t>)</a:t>
            </a:r>
            <a:endParaRPr lang="en-IN" dirty="0"/>
          </a:p>
        </p:txBody>
      </p:sp>
      <p:sp>
        <p:nvSpPr>
          <p:cNvPr id="3" name="Content Placeholder 2">
            <a:extLst>
              <a:ext uri="{FF2B5EF4-FFF2-40B4-BE49-F238E27FC236}">
                <a16:creationId xmlns:a16="http://schemas.microsoft.com/office/drawing/2014/main" id="{F406FBB0-32EF-2781-5C31-AAEF16CBF0C2}"/>
              </a:ext>
            </a:extLst>
          </p:cNvPr>
          <p:cNvSpPr>
            <a:spLocks noGrp="1"/>
          </p:cNvSpPr>
          <p:nvPr>
            <p:ph idx="1"/>
          </p:nvPr>
        </p:nvSpPr>
        <p:spPr>
          <a:xfrm>
            <a:off x="1451579" y="2015732"/>
            <a:ext cx="9603275" cy="3873439"/>
          </a:xfrm>
        </p:spPr>
        <p:txBody>
          <a:bodyPr>
            <a:normAutofit fontScale="92500"/>
          </a:bodyPr>
          <a:lstStyle/>
          <a:p>
            <a:r>
              <a:rPr lang="en-US" dirty="0"/>
              <a:t>Generally we create infra in cloud using the management console option provided by the cloud service provider.</a:t>
            </a:r>
          </a:p>
          <a:p>
            <a:r>
              <a:rPr lang="en-US" dirty="0"/>
              <a:t>But whenever we have to work on a huge infra and manage infra for multiple clients and there projects, its not recommended approach, as its slow, confusing and most importantly time consuming</a:t>
            </a:r>
          </a:p>
          <a:p>
            <a:r>
              <a:rPr lang="en-US" dirty="0"/>
              <a:t>We can do one thing here to avoid such issues, that is write our infra in the form of some script so that it is beneficial in referencing, maintain, collaborating and sharing.</a:t>
            </a:r>
          </a:p>
          <a:p>
            <a:r>
              <a:rPr lang="en-US" dirty="0"/>
              <a:t>In simple words we are creating, maintaining, modifying, destroying our infra through code.</a:t>
            </a:r>
          </a:p>
          <a:p>
            <a:r>
              <a:rPr lang="en-US" dirty="0"/>
              <a:t>This is called as IAAC</a:t>
            </a:r>
          </a:p>
          <a:p>
            <a:pPr marL="0" indent="0">
              <a:buNone/>
            </a:pPr>
            <a:endParaRPr lang="en-IN" dirty="0"/>
          </a:p>
        </p:txBody>
      </p:sp>
    </p:spTree>
    <p:extLst>
      <p:ext uri="{BB962C8B-B14F-4D97-AF65-F5344CB8AC3E}">
        <p14:creationId xmlns:p14="http://schemas.microsoft.com/office/powerpoint/2010/main" val="613699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5ECC5-4CCF-1B15-954E-C17C6686DB8D}"/>
              </a:ext>
            </a:extLst>
          </p:cNvPr>
          <p:cNvSpPr>
            <a:spLocks noGrp="1"/>
          </p:cNvSpPr>
          <p:nvPr>
            <p:ph type="title"/>
          </p:nvPr>
        </p:nvSpPr>
        <p:spPr/>
        <p:txBody>
          <a:bodyPr/>
          <a:lstStyle/>
          <a:p>
            <a:r>
              <a:rPr lang="en-US" dirty="0"/>
              <a:t>IAAC</a:t>
            </a:r>
            <a:endParaRPr lang="en-IN" dirty="0"/>
          </a:p>
        </p:txBody>
      </p:sp>
      <p:sp>
        <p:nvSpPr>
          <p:cNvPr id="3" name="Content Placeholder 2">
            <a:extLst>
              <a:ext uri="{FF2B5EF4-FFF2-40B4-BE49-F238E27FC236}">
                <a16:creationId xmlns:a16="http://schemas.microsoft.com/office/drawing/2014/main" id="{2D653BDB-8C3D-6D4B-F5B8-937390ADDF4A}"/>
              </a:ext>
            </a:extLst>
          </p:cNvPr>
          <p:cNvSpPr>
            <a:spLocks noGrp="1"/>
          </p:cNvSpPr>
          <p:nvPr>
            <p:ph idx="1"/>
          </p:nvPr>
        </p:nvSpPr>
        <p:spPr>
          <a:xfrm>
            <a:off x="1451578" y="1932215"/>
            <a:ext cx="9603275" cy="4327071"/>
          </a:xfrm>
        </p:spPr>
        <p:txBody>
          <a:bodyPr>
            <a:normAutofit lnSpcReduction="10000"/>
          </a:bodyPr>
          <a:lstStyle/>
          <a:p>
            <a:r>
              <a:rPr lang="en-US" dirty="0"/>
              <a:t>Lets consider we wrote our infra with the help of shell scripts of may be python scripts.</a:t>
            </a:r>
          </a:p>
          <a:p>
            <a:r>
              <a:rPr lang="en-US" dirty="0"/>
              <a:t>But here these scripts may become too complicated, difficult to understand.</a:t>
            </a:r>
          </a:p>
          <a:p>
            <a:r>
              <a:rPr lang="en-US" dirty="0"/>
              <a:t>One might need high level of programming language knowledge and experience, and some advanced development skills.</a:t>
            </a:r>
          </a:p>
          <a:p>
            <a:r>
              <a:rPr lang="en-US" dirty="0"/>
              <a:t>One more issue with this approach is there is a lot of logical we need to adapt to and this code file will not be reusable.</a:t>
            </a:r>
          </a:p>
          <a:p>
            <a:r>
              <a:rPr lang="en-US" dirty="0"/>
              <a:t>Reusability in one of the most important aspect when it comes to cloud or any technology that is around in IT.</a:t>
            </a:r>
          </a:p>
          <a:p>
            <a:r>
              <a:rPr lang="en-IN" dirty="0"/>
              <a:t>Thus in todays modern IT world, we make use of some highly easy and advanced tools for creating, configuring and maintaining our infra.</a:t>
            </a:r>
          </a:p>
        </p:txBody>
      </p:sp>
    </p:spTree>
    <p:extLst>
      <p:ext uri="{BB962C8B-B14F-4D97-AF65-F5344CB8AC3E}">
        <p14:creationId xmlns:p14="http://schemas.microsoft.com/office/powerpoint/2010/main" val="3039540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647CE-F809-3019-D4D6-64C993ED502C}"/>
              </a:ext>
            </a:extLst>
          </p:cNvPr>
          <p:cNvSpPr>
            <a:spLocks noGrp="1"/>
          </p:cNvSpPr>
          <p:nvPr>
            <p:ph type="title"/>
          </p:nvPr>
        </p:nvSpPr>
        <p:spPr/>
        <p:txBody>
          <a:bodyPr/>
          <a:lstStyle/>
          <a:p>
            <a:r>
              <a:rPr lang="en-US" dirty="0"/>
              <a:t>Types of IAAC tools</a:t>
            </a:r>
            <a:endParaRPr lang="en-IN" dirty="0"/>
          </a:p>
        </p:txBody>
      </p:sp>
      <p:sp>
        <p:nvSpPr>
          <p:cNvPr id="3" name="Content Placeholder 2">
            <a:extLst>
              <a:ext uri="{FF2B5EF4-FFF2-40B4-BE49-F238E27FC236}">
                <a16:creationId xmlns:a16="http://schemas.microsoft.com/office/drawing/2014/main" id="{83945E69-2D7F-546E-50F7-2766C58BC3A8}"/>
              </a:ext>
            </a:extLst>
          </p:cNvPr>
          <p:cNvSpPr>
            <a:spLocks noGrp="1"/>
          </p:cNvSpPr>
          <p:nvPr>
            <p:ph idx="1"/>
          </p:nvPr>
        </p:nvSpPr>
        <p:spPr>
          <a:xfrm>
            <a:off x="1451579" y="2015732"/>
            <a:ext cx="9603275" cy="3971411"/>
          </a:xfrm>
        </p:spPr>
        <p:txBody>
          <a:bodyPr>
            <a:normAutofit/>
          </a:bodyPr>
          <a:lstStyle/>
          <a:p>
            <a:r>
              <a:rPr lang="en-US" dirty="0"/>
              <a:t>Docker</a:t>
            </a:r>
          </a:p>
          <a:p>
            <a:r>
              <a:rPr lang="en-US" dirty="0"/>
              <a:t>Ansible</a:t>
            </a:r>
          </a:p>
          <a:p>
            <a:r>
              <a:rPr lang="en-US" dirty="0"/>
              <a:t>Terraform</a:t>
            </a:r>
          </a:p>
          <a:p>
            <a:r>
              <a:rPr lang="en-US" dirty="0"/>
              <a:t>Cloud formation</a:t>
            </a:r>
          </a:p>
          <a:p>
            <a:r>
              <a:rPr lang="en-US" dirty="0"/>
              <a:t>Salt</a:t>
            </a:r>
          </a:p>
          <a:p>
            <a:r>
              <a:rPr lang="en-US" dirty="0"/>
              <a:t>Puppet</a:t>
            </a:r>
          </a:p>
          <a:p>
            <a:r>
              <a:rPr lang="en-US" dirty="0"/>
              <a:t>Packer</a:t>
            </a:r>
          </a:p>
          <a:p>
            <a:r>
              <a:rPr lang="en-US" dirty="0"/>
              <a:t>Vagrant</a:t>
            </a:r>
            <a:endParaRPr lang="en-IN" dirty="0"/>
          </a:p>
        </p:txBody>
      </p:sp>
    </p:spTree>
    <p:extLst>
      <p:ext uri="{BB962C8B-B14F-4D97-AF65-F5344CB8AC3E}">
        <p14:creationId xmlns:p14="http://schemas.microsoft.com/office/powerpoint/2010/main" val="733125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C08DC-F8CA-33D6-8552-E118F8D0106F}"/>
              </a:ext>
            </a:extLst>
          </p:cNvPr>
          <p:cNvSpPr>
            <a:spLocks noGrp="1"/>
          </p:cNvSpPr>
          <p:nvPr>
            <p:ph type="title"/>
          </p:nvPr>
        </p:nvSpPr>
        <p:spPr/>
        <p:txBody>
          <a:bodyPr/>
          <a:lstStyle/>
          <a:p>
            <a:r>
              <a:rPr lang="en-US" dirty="0"/>
              <a:t>IAAC</a:t>
            </a:r>
            <a:endParaRPr lang="en-IN" dirty="0"/>
          </a:p>
        </p:txBody>
      </p:sp>
      <p:sp>
        <p:nvSpPr>
          <p:cNvPr id="3" name="Content Placeholder 2">
            <a:extLst>
              <a:ext uri="{FF2B5EF4-FFF2-40B4-BE49-F238E27FC236}">
                <a16:creationId xmlns:a16="http://schemas.microsoft.com/office/drawing/2014/main" id="{711C21D1-0574-E9FC-1FE6-9437618E0A4B}"/>
              </a:ext>
            </a:extLst>
          </p:cNvPr>
          <p:cNvSpPr>
            <a:spLocks noGrp="1"/>
          </p:cNvSpPr>
          <p:nvPr>
            <p:ph idx="1"/>
          </p:nvPr>
        </p:nvSpPr>
        <p:spPr>
          <a:xfrm>
            <a:off x="1451579" y="1853754"/>
            <a:ext cx="9603275" cy="4340217"/>
          </a:xfrm>
        </p:spPr>
        <p:txBody>
          <a:bodyPr>
            <a:normAutofit fontScale="92500" lnSpcReduction="20000"/>
          </a:bodyPr>
          <a:lstStyle/>
          <a:p>
            <a:r>
              <a:rPr lang="en-US" dirty="0"/>
              <a:t>Above such tools offer many advantages</a:t>
            </a:r>
          </a:p>
          <a:p>
            <a:r>
              <a:rPr lang="en-US" dirty="0"/>
              <a:t>They are easy to learn</a:t>
            </a:r>
          </a:p>
          <a:p>
            <a:r>
              <a:rPr lang="en-US" dirty="0"/>
              <a:t>Human readable</a:t>
            </a:r>
          </a:p>
          <a:p>
            <a:r>
              <a:rPr lang="en-US" dirty="0"/>
              <a:t>Predefined set of modules and commands</a:t>
            </a:r>
          </a:p>
          <a:p>
            <a:r>
              <a:rPr lang="en-US" dirty="0"/>
              <a:t>Easy to maintain</a:t>
            </a:r>
          </a:p>
          <a:p>
            <a:r>
              <a:rPr lang="en-US" dirty="0"/>
              <a:t>Declarative approach</a:t>
            </a:r>
          </a:p>
          <a:p>
            <a:pPr marL="0" indent="0">
              <a:buNone/>
            </a:pPr>
            <a:r>
              <a:rPr lang="en-US" dirty="0"/>
              <a:t>These tools are further classified into</a:t>
            </a:r>
          </a:p>
          <a:p>
            <a:pPr marL="457200" indent="-457200">
              <a:buAutoNum type="arabicPeriod"/>
            </a:pPr>
            <a:r>
              <a:rPr lang="en-IN" dirty="0"/>
              <a:t>Server templating tools – Docker, packer, vagrant</a:t>
            </a:r>
          </a:p>
          <a:p>
            <a:pPr marL="457200" indent="-457200">
              <a:buAutoNum type="arabicPeriod"/>
            </a:pPr>
            <a:r>
              <a:rPr lang="en-IN" dirty="0"/>
              <a:t>Provisioning tools  -- cloud formation, terraform</a:t>
            </a:r>
          </a:p>
          <a:p>
            <a:pPr marL="457200" indent="-457200">
              <a:buAutoNum type="arabicPeriod"/>
            </a:pPr>
            <a:r>
              <a:rPr lang="en-IN" dirty="0"/>
              <a:t>Configuration management tools --- ansible, puppet, salt</a:t>
            </a:r>
          </a:p>
        </p:txBody>
      </p:sp>
    </p:spTree>
    <p:extLst>
      <p:ext uri="{BB962C8B-B14F-4D97-AF65-F5344CB8AC3E}">
        <p14:creationId xmlns:p14="http://schemas.microsoft.com/office/powerpoint/2010/main" val="2626507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8E08D-D591-FF1B-27F3-100E23315018}"/>
              </a:ext>
            </a:extLst>
          </p:cNvPr>
          <p:cNvSpPr>
            <a:spLocks noGrp="1"/>
          </p:cNvSpPr>
          <p:nvPr>
            <p:ph type="title"/>
          </p:nvPr>
        </p:nvSpPr>
        <p:spPr/>
        <p:txBody>
          <a:bodyPr/>
          <a:lstStyle/>
          <a:p>
            <a:r>
              <a:rPr lang="en-US" dirty="0"/>
              <a:t>Provisioning tools</a:t>
            </a:r>
            <a:endParaRPr lang="en-IN" dirty="0"/>
          </a:p>
        </p:txBody>
      </p:sp>
      <p:sp>
        <p:nvSpPr>
          <p:cNvPr id="3" name="Content Placeholder 2">
            <a:extLst>
              <a:ext uri="{FF2B5EF4-FFF2-40B4-BE49-F238E27FC236}">
                <a16:creationId xmlns:a16="http://schemas.microsoft.com/office/drawing/2014/main" id="{33286D4F-0EA5-9F2F-1C3C-907E56D5F01A}"/>
              </a:ext>
            </a:extLst>
          </p:cNvPr>
          <p:cNvSpPr>
            <a:spLocks noGrp="1"/>
          </p:cNvSpPr>
          <p:nvPr>
            <p:ph idx="1"/>
          </p:nvPr>
        </p:nvSpPr>
        <p:spPr/>
        <p:txBody>
          <a:bodyPr/>
          <a:lstStyle/>
          <a:p>
            <a:r>
              <a:rPr lang="en-US" dirty="0"/>
              <a:t>These are used to provision infra in cloud </a:t>
            </a:r>
            <a:r>
              <a:rPr lang="en-US" dirty="0" err="1"/>
              <a:t>envs</a:t>
            </a:r>
            <a:r>
              <a:rPr lang="en-US" dirty="0"/>
              <a:t> using simple declarative syntax.</a:t>
            </a:r>
          </a:p>
          <a:p>
            <a:r>
              <a:rPr lang="en-US" dirty="0"/>
              <a:t>Can create infra in multiple cloud service platforms</a:t>
            </a:r>
          </a:p>
          <a:p>
            <a:r>
              <a:rPr lang="en-US" dirty="0"/>
              <a:t>They also deploy immutable infra resources.</a:t>
            </a:r>
          </a:p>
          <a:p>
            <a:endParaRPr lang="en-IN" dirty="0"/>
          </a:p>
        </p:txBody>
      </p:sp>
    </p:spTree>
    <p:extLst>
      <p:ext uri="{BB962C8B-B14F-4D97-AF65-F5344CB8AC3E}">
        <p14:creationId xmlns:p14="http://schemas.microsoft.com/office/powerpoint/2010/main" val="1265288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805FF-49B7-71E1-4437-DE04E3496B77}"/>
              </a:ext>
            </a:extLst>
          </p:cNvPr>
          <p:cNvSpPr>
            <a:spLocks noGrp="1"/>
          </p:cNvSpPr>
          <p:nvPr>
            <p:ph type="title"/>
          </p:nvPr>
        </p:nvSpPr>
        <p:spPr/>
        <p:txBody>
          <a:bodyPr/>
          <a:lstStyle/>
          <a:p>
            <a:r>
              <a:rPr lang="en-US" dirty="0"/>
              <a:t>Mutable vs immutable infra</a:t>
            </a:r>
            <a:endParaRPr lang="en-IN" dirty="0"/>
          </a:p>
        </p:txBody>
      </p:sp>
      <p:sp>
        <p:nvSpPr>
          <p:cNvPr id="4" name="Content Placeholder 3">
            <a:extLst>
              <a:ext uri="{FF2B5EF4-FFF2-40B4-BE49-F238E27FC236}">
                <a16:creationId xmlns:a16="http://schemas.microsoft.com/office/drawing/2014/main" id="{7BB514E0-65FB-04C5-4F30-7063A4206467}"/>
              </a:ext>
            </a:extLst>
          </p:cNvPr>
          <p:cNvSpPr>
            <a:spLocks noGrp="1"/>
          </p:cNvSpPr>
          <p:nvPr>
            <p:ph idx="1"/>
          </p:nvPr>
        </p:nvSpPr>
        <p:spPr/>
        <p:txBody>
          <a:bodyPr/>
          <a:lstStyle/>
          <a:p>
            <a:r>
              <a:rPr lang="en-US" dirty="0">
                <a:hlinkClick r:id="rId2"/>
              </a:rPr>
              <a:t>https://www.hashicorp.com/resources/what-is-mutable-vs-immutable-infrastructure</a:t>
            </a:r>
            <a:endParaRPr lang="en-US" dirty="0"/>
          </a:p>
          <a:p>
            <a:endParaRPr lang="en-IN" dirty="0"/>
          </a:p>
        </p:txBody>
      </p:sp>
      <p:pic>
        <p:nvPicPr>
          <p:cNvPr id="5" name="Picture 2" descr="Immutable Infrastructure vs Mutable Infrastructure | ReviewNPrep">
            <a:extLst>
              <a:ext uri="{FF2B5EF4-FFF2-40B4-BE49-F238E27FC236}">
                <a16:creationId xmlns:a16="http://schemas.microsoft.com/office/drawing/2014/main" id="{A083D4A6-CDC8-1EBA-1810-6CBEBA506F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1172" y="2484210"/>
            <a:ext cx="6267478" cy="3824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6586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44EE9-3226-41CD-089F-7386C438B54A}"/>
              </a:ext>
            </a:extLst>
          </p:cNvPr>
          <p:cNvSpPr>
            <a:spLocks noGrp="1"/>
          </p:cNvSpPr>
          <p:nvPr>
            <p:ph type="title"/>
          </p:nvPr>
        </p:nvSpPr>
        <p:spPr/>
        <p:txBody>
          <a:bodyPr/>
          <a:lstStyle/>
          <a:p>
            <a:r>
              <a:rPr lang="en-US" dirty="0"/>
              <a:t>Terraform  -- by </a:t>
            </a:r>
            <a:r>
              <a:rPr lang="en-US" dirty="0" err="1"/>
              <a:t>hashicorp</a:t>
            </a:r>
            <a:endParaRPr lang="en-IN" dirty="0"/>
          </a:p>
        </p:txBody>
      </p:sp>
      <p:sp>
        <p:nvSpPr>
          <p:cNvPr id="5" name="Content Placeholder 4">
            <a:extLst>
              <a:ext uri="{FF2B5EF4-FFF2-40B4-BE49-F238E27FC236}">
                <a16:creationId xmlns:a16="http://schemas.microsoft.com/office/drawing/2014/main" id="{249945B1-023F-AE5D-DD34-65A927595EF5}"/>
              </a:ext>
            </a:extLst>
          </p:cNvPr>
          <p:cNvSpPr>
            <a:spLocks noGrp="1"/>
          </p:cNvSpPr>
          <p:nvPr>
            <p:ph idx="1"/>
          </p:nvPr>
        </p:nvSpPr>
        <p:spPr/>
        <p:txBody>
          <a:bodyPr/>
          <a:lstStyle/>
          <a:p>
            <a:r>
              <a:rPr lang="en-US" dirty="0"/>
              <a:t>One of the most popular IAAC tool</a:t>
            </a:r>
          </a:p>
          <a:p>
            <a:r>
              <a:rPr lang="en-US" dirty="0"/>
              <a:t>Free </a:t>
            </a:r>
          </a:p>
          <a:p>
            <a:r>
              <a:rPr lang="en-US" dirty="0"/>
              <a:t>Open source tool</a:t>
            </a:r>
          </a:p>
          <a:p>
            <a:r>
              <a:rPr lang="en-US" dirty="0"/>
              <a:t>Easy to install, setup.</a:t>
            </a:r>
          </a:p>
          <a:p>
            <a:r>
              <a:rPr lang="en-US" dirty="0"/>
              <a:t>Allows us to quickly build, install, manage, destroy cloud infra in mins</a:t>
            </a:r>
          </a:p>
          <a:p>
            <a:r>
              <a:rPr lang="en-US" dirty="0"/>
              <a:t>One of the most popular advantage is it can help create infra in multiple platforms</a:t>
            </a:r>
            <a:endParaRPr lang="en-IN" dirty="0"/>
          </a:p>
        </p:txBody>
      </p:sp>
    </p:spTree>
    <p:extLst>
      <p:ext uri="{BB962C8B-B14F-4D97-AF65-F5344CB8AC3E}">
        <p14:creationId xmlns:p14="http://schemas.microsoft.com/office/powerpoint/2010/main" val="112131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729ED9B-8F70-80EF-3F99-927B1EBD4A28}"/>
              </a:ext>
            </a:extLst>
          </p:cNvPr>
          <p:cNvPicPr>
            <a:picLocks noChangeAspect="1"/>
          </p:cNvPicPr>
          <p:nvPr/>
        </p:nvPicPr>
        <p:blipFill>
          <a:blip r:embed="rId2"/>
          <a:stretch>
            <a:fillRect/>
          </a:stretch>
        </p:blipFill>
        <p:spPr>
          <a:xfrm>
            <a:off x="996043" y="169180"/>
            <a:ext cx="9345386" cy="5973438"/>
          </a:xfrm>
          <a:prstGeom prst="rect">
            <a:avLst/>
          </a:prstGeom>
        </p:spPr>
      </p:pic>
    </p:spTree>
    <p:extLst>
      <p:ext uri="{BB962C8B-B14F-4D97-AF65-F5344CB8AC3E}">
        <p14:creationId xmlns:p14="http://schemas.microsoft.com/office/powerpoint/2010/main" val="3667069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475A2-26EA-035E-9F88-D0104408B300}"/>
              </a:ext>
            </a:extLst>
          </p:cNvPr>
          <p:cNvSpPr>
            <a:spLocks noGrp="1"/>
          </p:cNvSpPr>
          <p:nvPr>
            <p:ph type="title"/>
          </p:nvPr>
        </p:nvSpPr>
        <p:spPr/>
        <p:txBody>
          <a:bodyPr/>
          <a:lstStyle/>
          <a:p>
            <a:r>
              <a:rPr lang="en-US" dirty="0"/>
              <a:t>Terraform concepts	</a:t>
            </a:r>
            <a:endParaRPr lang="en-IN" dirty="0"/>
          </a:p>
        </p:txBody>
      </p:sp>
      <p:sp>
        <p:nvSpPr>
          <p:cNvPr id="3" name="Content Placeholder 2">
            <a:extLst>
              <a:ext uri="{FF2B5EF4-FFF2-40B4-BE49-F238E27FC236}">
                <a16:creationId xmlns:a16="http://schemas.microsoft.com/office/drawing/2014/main" id="{14D140BD-A6C2-668E-B845-1F9454119BDC}"/>
              </a:ext>
            </a:extLst>
          </p:cNvPr>
          <p:cNvSpPr>
            <a:spLocks noGrp="1"/>
          </p:cNvSpPr>
          <p:nvPr>
            <p:ph idx="1"/>
          </p:nvPr>
        </p:nvSpPr>
        <p:spPr>
          <a:xfrm>
            <a:off x="1451579" y="1812471"/>
            <a:ext cx="9603275" cy="4403272"/>
          </a:xfrm>
        </p:spPr>
        <p:txBody>
          <a:bodyPr>
            <a:normAutofit fontScale="70000" lnSpcReduction="20000"/>
          </a:bodyPr>
          <a:lstStyle/>
          <a:p>
            <a:r>
              <a:rPr lang="en-US" dirty="0"/>
              <a:t>PROVIDERS</a:t>
            </a:r>
          </a:p>
          <a:p>
            <a:r>
              <a:rPr lang="en-US" dirty="0"/>
              <a:t>HCL SYNTAX</a:t>
            </a:r>
          </a:p>
          <a:p>
            <a:r>
              <a:rPr lang="en-US" dirty="0"/>
              <a:t>RESOURCE</a:t>
            </a:r>
          </a:p>
          <a:p>
            <a:r>
              <a:rPr lang="en-US" dirty="0"/>
              <a:t>RESOURCE TYPES</a:t>
            </a:r>
          </a:p>
          <a:p>
            <a:r>
              <a:rPr lang="en-US" dirty="0"/>
              <a:t>RESOURCE NAME</a:t>
            </a:r>
          </a:p>
          <a:p>
            <a:r>
              <a:rPr lang="en-US" dirty="0"/>
              <a:t>ARGUMENTS</a:t>
            </a:r>
          </a:p>
          <a:p>
            <a:r>
              <a:rPr lang="en-US" dirty="0"/>
              <a:t>TERRAFORM COMMANDS</a:t>
            </a:r>
          </a:p>
          <a:p>
            <a:r>
              <a:rPr lang="en-US" dirty="0"/>
              <a:t>TERRAFORM STATE</a:t>
            </a:r>
          </a:p>
          <a:p>
            <a:r>
              <a:rPr lang="en-US" dirty="0"/>
              <a:t>VARIABLES</a:t>
            </a:r>
          </a:p>
          <a:p>
            <a:r>
              <a:rPr lang="en-US" dirty="0"/>
              <a:t>RESOURCE REFERANCE ATTRIBUTES</a:t>
            </a:r>
          </a:p>
          <a:p>
            <a:r>
              <a:rPr lang="en-US" dirty="0"/>
              <a:t>RESOURCE DEPENDANCIES</a:t>
            </a:r>
          </a:p>
          <a:p>
            <a:r>
              <a:rPr lang="en-US" dirty="0"/>
              <a:t>OUTPUT AND MORE…..</a:t>
            </a:r>
          </a:p>
          <a:p>
            <a:endParaRPr lang="en-US" dirty="0"/>
          </a:p>
          <a:p>
            <a:endParaRPr lang="en-IN" dirty="0"/>
          </a:p>
        </p:txBody>
      </p:sp>
    </p:spTree>
    <p:extLst>
      <p:ext uri="{BB962C8B-B14F-4D97-AF65-F5344CB8AC3E}">
        <p14:creationId xmlns:p14="http://schemas.microsoft.com/office/powerpoint/2010/main" val="1474082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BF697-E8D7-3ABB-EFEA-81C115777C60}"/>
              </a:ext>
            </a:extLst>
          </p:cNvPr>
          <p:cNvSpPr>
            <a:spLocks noGrp="1"/>
          </p:cNvSpPr>
          <p:nvPr>
            <p:ph type="title"/>
          </p:nvPr>
        </p:nvSpPr>
        <p:spPr/>
        <p:txBody>
          <a:bodyPr/>
          <a:lstStyle/>
          <a:p>
            <a:r>
              <a:rPr lang="en-US" dirty="0"/>
              <a:t>PROVIDERS</a:t>
            </a:r>
            <a:endParaRPr lang="en-IN" dirty="0"/>
          </a:p>
        </p:txBody>
      </p:sp>
      <p:sp>
        <p:nvSpPr>
          <p:cNvPr id="3" name="Content Placeholder 2">
            <a:extLst>
              <a:ext uri="{FF2B5EF4-FFF2-40B4-BE49-F238E27FC236}">
                <a16:creationId xmlns:a16="http://schemas.microsoft.com/office/drawing/2014/main" id="{800B86A3-39ED-D555-787F-59BC04EF8866}"/>
              </a:ext>
            </a:extLst>
          </p:cNvPr>
          <p:cNvSpPr>
            <a:spLocks noGrp="1"/>
          </p:cNvSpPr>
          <p:nvPr>
            <p:ph idx="1"/>
          </p:nvPr>
        </p:nvSpPr>
        <p:spPr/>
        <p:txBody>
          <a:bodyPr/>
          <a:lstStyle/>
          <a:p>
            <a:r>
              <a:rPr lang="en-US" dirty="0"/>
              <a:t>A provider in terraform is nothing but a plugin or a simple software that helps terraform manage 3</a:t>
            </a:r>
            <a:r>
              <a:rPr lang="en-US" baseline="30000" dirty="0"/>
              <a:t>rd</a:t>
            </a:r>
            <a:r>
              <a:rPr lang="en-US" dirty="0"/>
              <a:t> party platform with the help of platform’s API.</a:t>
            </a:r>
          </a:p>
          <a:p>
            <a:r>
              <a:rPr lang="en-US" dirty="0"/>
              <a:t>Terraform relies on plugins called providers to interact with cloud providers, SaaS providers, and other APIs.</a:t>
            </a:r>
          </a:p>
          <a:p>
            <a:r>
              <a:rPr lang="en-US" dirty="0"/>
              <a:t>Terraform configurations must declare which providers they require so that Terraform can install and use them.</a:t>
            </a:r>
          </a:p>
          <a:p>
            <a:r>
              <a:rPr lang="en-US" dirty="0"/>
              <a:t>Providers enable terraform manage cloud platform like </a:t>
            </a:r>
            <a:r>
              <a:rPr lang="en-US" dirty="0" err="1"/>
              <a:t>aws</a:t>
            </a:r>
            <a:r>
              <a:rPr lang="en-US" dirty="0"/>
              <a:t>, azure, </a:t>
            </a:r>
            <a:r>
              <a:rPr lang="en-US" dirty="0" err="1"/>
              <a:t>gcp</a:t>
            </a:r>
            <a:r>
              <a:rPr lang="en-US" dirty="0"/>
              <a:t>, also other networking, monitoring and DB platforms as well.</a:t>
            </a:r>
            <a:endParaRPr lang="en-IN" dirty="0"/>
          </a:p>
        </p:txBody>
      </p:sp>
    </p:spTree>
    <p:extLst>
      <p:ext uri="{BB962C8B-B14F-4D97-AF65-F5344CB8AC3E}">
        <p14:creationId xmlns:p14="http://schemas.microsoft.com/office/powerpoint/2010/main" val="2261037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0E32A-910D-E690-50F9-0DA7D94D55C6}"/>
              </a:ext>
            </a:extLst>
          </p:cNvPr>
          <p:cNvSpPr>
            <a:spLocks noGrp="1"/>
          </p:cNvSpPr>
          <p:nvPr>
            <p:ph type="title"/>
          </p:nvPr>
        </p:nvSpPr>
        <p:spPr/>
        <p:txBody>
          <a:bodyPr/>
          <a:lstStyle/>
          <a:p>
            <a:r>
              <a:rPr lang="en-US" dirty="0"/>
              <a:t>Providers and its registry</a:t>
            </a:r>
            <a:endParaRPr lang="en-IN" dirty="0"/>
          </a:p>
        </p:txBody>
      </p:sp>
      <p:sp>
        <p:nvSpPr>
          <p:cNvPr id="3" name="Content Placeholder 2">
            <a:extLst>
              <a:ext uri="{FF2B5EF4-FFF2-40B4-BE49-F238E27FC236}">
                <a16:creationId xmlns:a16="http://schemas.microsoft.com/office/drawing/2014/main" id="{E8C43537-9427-0214-06AA-98EE238AF1A0}"/>
              </a:ext>
            </a:extLst>
          </p:cNvPr>
          <p:cNvSpPr>
            <a:spLocks noGrp="1"/>
          </p:cNvSpPr>
          <p:nvPr>
            <p:ph idx="1"/>
          </p:nvPr>
        </p:nvSpPr>
        <p:spPr/>
        <p:txBody>
          <a:bodyPr/>
          <a:lstStyle/>
          <a:p>
            <a:r>
              <a:rPr lang="en-US" dirty="0"/>
              <a:t>We can view all the providers in the terraform registry below</a:t>
            </a:r>
          </a:p>
          <a:p>
            <a:r>
              <a:rPr lang="en-IN" dirty="0">
                <a:hlinkClick r:id="rId2"/>
              </a:rPr>
              <a:t>https://registry.terraform.io/</a:t>
            </a:r>
            <a:endParaRPr lang="en-US" dirty="0"/>
          </a:p>
          <a:p>
            <a:r>
              <a:rPr lang="en-IN" dirty="0">
                <a:hlinkClick r:id="rId3"/>
              </a:rPr>
              <a:t>https://registry.terraform.io/browse/providers</a:t>
            </a:r>
            <a:r>
              <a:rPr lang="en-IN" dirty="0"/>
              <a:t> </a:t>
            </a:r>
          </a:p>
          <a:p>
            <a:r>
              <a:rPr lang="en-US" dirty="0"/>
              <a:t>Terraform officially supports around 130 providers as of 08-Jun-2022</a:t>
            </a:r>
          </a:p>
          <a:p>
            <a:pPr marL="0" indent="0">
              <a:buNone/>
            </a:pPr>
            <a:endParaRPr lang="en-IN" dirty="0"/>
          </a:p>
        </p:txBody>
      </p:sp>
    </p:spTree>
    <p:extLst>
      <p:ext uri="{BB962C8B-B14F-4D97-AF65-F5344CB8AC3E}">
        <p14:creationId xmlns:p14="http://schemas.microsoft.com/office/powerpoint/2010/main" val="1321193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F463F-1B1F-BAF1-E072-A7BDF241A355}"/>
              </a:ext>
            </a:extLst>
          </p:cNvPr>
          <p:cNvSpPr>
            <a:spLocks noGrp="1"/>
          </p:cNvSpPr>
          <p:nvPr>
            <p:ph type="title"/>
          </p:nvPr>
        </p:nvSpPr>
        <p:spPr/>
        <p:txBody>
          <a:bodyPr/>
          <a:lstStyle/>
          <a:p>
            <a:r>
              <a:rPr lang="en-US" dirty="0"/>
              <a:t>Types of terraform providers</a:t>
            </a:r>
            <a:endParaRPr lang="en-IN" dirty="0"/>
          </a:p>
        </p:txBody>
      </p:sp>
      <p:sp>
        <p:nvSpPr>
          <p:cNvPr id="3" name="Content Placeholder 2">
            <a:extLst>
              <a:ext uri="{FF2B5EF4-FFF2-40B4-BE49-F238E27FC236}">
                <a16:creationId xmlns:a16="http://schemas.microsoft.com/office/drawing/2014/main" id="{8BD0564D-2069-13B4-4E73-B52A3322653E}"/>
              </a:ext>
            </a:extLst>
          </p:cNvPr>
          <p:cNvSpPr>
            <a:spLocks noGrp="1"/>
          </p:cNvSpPr>
          <p:nvPr>
            <p:ph idx="1"/>
          </p:nvPr>
        </p:nvSpPr>
        <p:spPr/>
        <p:txBody>
          <a:bodyPr/>
          <a:lstStyle/>
          <a:p>
            <a:r>
              <a:rPr lang="en-US" dirty="0"/>
              <a:t>Official providers:-</a:t>
            </a:r>
          </a:p>
          <a:p>
            <a:pPr marL="0" indent="0">
              <a:buNone/>
            </a:pPr>
            <a:r>
              <a:rPr lang="en-IN" dirty="0"/>
              <a:t>	</a:t>
            </a:r>
            <a:r>
              <a:rPr lang="en-US" dirty="0"/>
              <a:t>Providers are a logical abstraction of an upstream API. They are responsible for understanding API interactions and exposing resources.</a:t>
            </a:r>
          </a:p>
          <a:p>
            <a:pPr marL="0" indent="0">
              <a:buNone/>
            </a:pPr>
            <a:r>
              <a:rPr lang="en-US" dirty="0"/>
              <a:t>	official providers are owned and maintained by </a:t>
            </a:r>
            <a:r>
              <a:rPr lang="en-US" dirty="0" err="1"/>
              <a:t>hashicorp</a:t>
            </a:r>
            <a:endParaRPr lang="en-US" dirty="0"/>
          </a:p>
          <a:p>
            <a:r>
              <a:rPr lang="en-US" dirty="0"/>
              <a:t>Verified providers:- owned and maintainer by 3</a:t>
            </a:r>
            <a:r>
              <a:rPr lang="en-US" baseline="30000" dirty="0"/>
              <a:t>rd</a:t>
            </a:r>
            <a:r>
              <a:rPr lang="en-US" dirty="0"/>
              <a:t> party tech company like </a:t>
            </a:r>
            <a:r>
              <a:rPr lang="en-US" dirty="0" err="1"/>
              <a:t>bigip</a:t>
            </a:r>
            <a:r>
              <a:rPr lang="en-US" dirty="0"/>
              <a:t>, digital ocean.</a:t>
            </a:r>
          </a:p>
          <a:p>
            <a:r>
              <a:rPr lang="en-US" dirty="0"/>
              <a:t>Community providers:- created by individual </a:t>
            </a:r>
            <a:r>
              <a:rPr lang="en-US" dirty="0" err="1"/>
              <a:t>contributers</a:t>
            </a:r>
            <a:endParaRPr lang="en-IN" dirty="0"/>
          </a:p>
        </p:txBody>
      </p:sp>
    </p:spTree>
    <p:extLst>
      <p:ext uri="{BB962C8B-B14F-4D97-AF65-F5344CB8AC3E}">
        <p14:creationId xmlns:p14="http://schemas.microsoft.com/office/powerpoint/2010/main" val="1882014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2F186-82FD-EFAD-3923-8E4F57D12079}"/>
              </a:ext>
            </a:extLst>
          </p:cNvPr>
          <p:cNvSpPr>
            <a:spLocks noGrp="1"/>
          </p:cNvSpPr>
          <p:nvPr>
            <p:ph type="title"/>
          </p:nvPr>
        </p:nvSpPr>
        <p:spPr/>
        <p:txBody>
          <a:bodyPr/>
          <a:lstStyle/>
          <a:p>
            <a:r>
              <a:rPr lang="en-US" dirty="0"/>
              <a:t>HCL (</a:t>
            </a:r>
            <a:r>
              <a:rPr lang="en-US" dirty="0" err="1"/>
              <a:t>hashicorp</a:t>
            </a:r>
            <a:r>
              <a:rPr lang="en-US" dirty="0"/>
              <a:t> configuration lang.)</a:t>
            </a:r>
            <a:endParaRPr lang="en-IN" dirty="0"/>
          </a:p>
        </p:txBody>
      </p:sp>
      <p:sp>
        <p:nvSpPr>
          <p:cNvPr id="3" name="Content Placeholder 2">
            <a:extLst>
              <a:ext uri="{FF2B5EF4-FFF2-40B4-BE49-F238E27FC236}">
                <a16:creationId xmlns:a16="http://schemas.microsoft.com/office/drawing/2014/main" id="{9848FBE8-F477-9344-A840-4DAB8F1C3B9D}"/>
              </a:ext>
            </a:extLst>
          </p:cNvPr>
          <p:cNvSpPr>
            <a:spLocks noGrp="1"/>
          </p:cNvSpPr>
          <p:nvPr>
            <p:ph idx="1"/>
          </p:nvPr>
        </p:nvSpPr>
        <p:spPr>
          <a:xfrm>
            <a:off x="1451579" y="2015732"/>
            <a:ext cx="9603275" cy="3987739"/>
          </a:xfrm>
        </p:spPr>
        <p:txBody>
          <a:bodyPr>
            <a:normAutofit lnSpcReduction="10000"/>
          </a:bodyPr>
          <a:lstStyle/>
          <a:p>
            <a:r>
              <a:rPr lang="en-US" dirty="0"/>
              <a:t>The </a:t>
            </a:r>
            <a:r>
              <a:rPr lang="en-US" dirty="0" err="1"/>
              <a:t>HashiCorp</a:t>
            </a:r>
            <a:r>
              <a:rPr lang="en-US" dirty="0"/>
              <a:t> Configuration Language (HCL) is a configuration language authored by </a:t>
            </a:r>
            <a:r>
              <a:rPr lang="en-US" dirty="0" err="1"/>
              <a:t>HashiCorp</a:t>
            </a:r>
            <a:r>
              <a:rPr lang="en-US" dirty="0"/>
              <a:t>. </a:t>
            </a:r>
          </a:p>
          <a:p>
            <a:r>
              <a:rPr lang="en-US" dirty="0"/>
              <a:t>HCL is used with </a:t>
            </a:r>
            <a:r>
              <a:rPr lang="en-US" dirty="0" err="1"/>
              <a:t>HashiCorp’s</a:t>
            </a:r>
            <a:r>
              <a:rPr lang="en-US" dirty="0"/>
              <a:t> cloud infrastructure automation tools, such as Terraform.</a:t>
            </a:r>
          </a:p>
          <a:p>
            <a:r>
              <a:rPr lang="en-US" dirty="0">
                <a:hlinkClick r:id="rId2"/>
              </a:rPr>
              <a:t>https://github.com/hashicorp/hcl/blob/main/hclsyntax/spec.md</a:t>
            </a:r>
            <a:r>
              <a:rPr lang="en-US" dirty="0"/>
              <a:t> </a:t>
            </a:r>
          </a:p>
          <a:p>
            <a:r>
              <a:rPr lang="en-US" dirty="0"/>
              <a:t>Here we are using HCL as it’s a declarative language to define infra resources to be provisioned as a block of code.</a:t>
            </a:r>
          </a:p>
          <a:p>
            <a:r>
              <a:rPr lang="en-US" dirty="0"/>
              <a:t>Here in case of HCL we need to create a .</a:t>
            </a:r>
            <a:r>
              <a:rPr lang="en-US" dirty="0" err="1"/>
              <a:t>tf</a:t>
            </a:r>
            <a:r>
              <a:rPr lang="en-US" dirty="0"/>
              <a:t> file and define all the configuration with .</a:t>
            </a:r>
            <a:r>
              <a:rPr lang="en-US" dirty="0" err="1"/>
              <a:t>tf</a:t>
            </a:r>
            <a:r>
              <a:rPr lang="en-US" dirty="0"/>
              <a:t> extension.</a:t>
            </a:r>
          </a:p>
          <a:p>
            <a:r>
              <a:rPr lang="en-US" dirty="0"/>
              <a:t>HCL has a easy to read/write syntax</a:t>
            </a:r>
          </a:p>
          <a:p>
            <a:endParaRPr lang="en-IN" dirty="0"/>
          </a:p>
        </p:txBody>
      </p:sp>
    </p:spTree>
    <p:extLst>
      <p:ext uri="{BB962C8B-B14F-4D97-AF65-F5344CB8AC3E}">
        <p14:creationId xmlns:p14="http://schemas.microsoft.com/office/powerpoint/2010/main" val="3975433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0CE69-66CF-2ABD-0D7A-B9251C11BF0E}"/>
              </a:ext>
            </a:extLst>
          </p:cNvPr>
          <p:cNvSpPr>
            <a:spLocks noGrp="1"/>
          </p:cNvSpPr>
          <p:nvPr>
            <p:ph type="title"/>
          </p:nvPr>
        </p:nvSpPr>
        <p:spPr/>
        <p:txBody>
          <a:bodyPr/>
          <a:lstStyle/>
          <a:p>
            <a:r>
              <a:rPr lang="en-US" dirty="0"/>
              <a:t>HCL basics</a:t>
            </a:r>
            <a:endParaRPr lang="en-IN" dirty="0"/>
          </a:p>
        </p:txBody>
      </p:sp>
      <p:sp>
        <p:nvSpPr>
          <p:cNvPr id="3" name="Content Placeholder 2">
            <a:extLst>
              <a:ext uri="{FF2B5EF4-FFF2-40B4-BE49-F238E27FC236}">
                <a16:creationId xmlns:a16="http://schemas.microsoft.com/office/drawing/2014/main" id="{94E54850-CD21-2714-6062-65380E2CBA7E}"/>
              </a:ext>
            </a:extLst>
          </p:cNvPr>
          <p:cNvSpPr>
            <a:spLocks noGrp="1"/>
          </p:cNvSpPr>
          <p:nvPr>
            <p:ph idx="1"/>
          </p:nvPr>
        </p:nvSpPr>
        <p:spPr>
          <a:xfrm>
            <a:off x="1034143" y="2015732"/>
            <a:ext cx="10232571" cy="3949639"/>
          </a:xfrm>
        </p:spPr>
        <p:txBody>
          <a:bodyPr>
            <a:normAutofit fontScale="92500" lnSpcReduction="10000"/>
          </a:bodyPr>
          <a:lstStyle/>
          <a:p>
            <a:r>
              <a:rPr lang="en-US" dirty="0"/>
              <a:t>The HCL is a simple file consisting of blocks and arguments</a:t>
            </a:r>
          </a:p>
          <a:p>
            <a:r>
              <a:rPr lang="en-US" dirty="0"/>
              <a:t>Block:- A block is nothing but a container of other content, a block always has multiple parameters and there arguments</a:t>
            </a:r>
          </a:p>
          <a:p>
            <a:pPr marL="457200" lvl="1" indent="0">
              <a:buNone/>
            </a:pPr>
            <a:r>
              <a:rPr lang="en-US" dirty="0"/>
              <a:t>	</a:t>
            </a:r>
          </a:p>
          <a:p>
            <a:pPr marL="457200" lvl="1" indent="0">
              <a:buNone/>
            </a:pPr>
            <a:r>
              <a:rPr lang="en-US" dirty="0"/>
              <a:t>		&lt;block&gt; &lt;parameters&gt; {</a:t>
            </a:r>
          </a:p>
          <a:p>
            <a:pPr marL="457200" lvl="1" indent="0">
              <a:buNone/>
            </a:pPr>
            <a:r>
              <a:rPr lang="en-US" dirty="0"/>
              <a:t>			</a:t>
            </a:r>
          </a:p>
          <a:p>
            <a:pPr marL="457200" lvl="1" indent="0">
              <a:buNone/>
            </a:pPr>
            <a:r>
              <a:rPr lang="en-US" dirty="0"/>
              <a:t>			key1 = value1</a:t>
            </a:r>
          </a:p>
          <a:p>
            <a:pPr marL="457200" lvl="1" indent="0">
              <a:buNone/>
            </a:pPr>
            <a:r>
              <a:rPr lang="en-US" dirty="0"/>
              <a:t>			key2 = value2    ##these are the arguments in key value pair</a:t>
            </a:r>
          </a:p>
          <a:p>
            <a:pPr marL="457200" lvl="1" indent="0">
              <a:buNone/>
            </a:pPr>
            <a:r>
              <a:rPr lang="en-US" dirty="0"/>
              <a:t>		}</a:t>
            </a:r>
          </a:p>
          <a:p>
            <a:pPr marL="457200" lvl="1" indent="0">
              <a:buNone/>
            </a:pPr>
            <a:endParaRPr lang="en-IN" dirty="0"/>
          </a:p>
          <a:p>
            <a:pPr marL="457200" lvl="1" indent="0">
              <a:buNone/>
            </a:pPr>
            <a:r>
              <a:rPr lang="en-IN" dirty="0"/>
              <a:t>https://developer.hashicorp.com/terraform/language/syntax/configuration</a:t>
            </a:r>
          </a:p>
        </p:txBody>
      </p:sp>
    </p:spTree>
    <p:extLst>
      <p:ext uri="{BB962C8B-B14F-4D97-AF65-F5344CB8AC3E}">
        <p14:creationId xmlns:p14="http://schemas.microsoft.com/office/powerpoint/2010/main" val="2499615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8EE17-A0D7-482D-DC66-3F76792D3C39}"/>
              </a:ext>
            </a:extLst>
          </p:cNvPr>
          <p:cNvSpPr>
            <a:spLocks noGrp="1"/>
          </p:cNvSpPr>
          <p:nvPr>
            <p:ph type="title"/>
          </p:nvPr>
        </p:nvSpPr>
        <p:spPr/>
        <p:txBody>
          <a:bodyPr/>
          <a:lstStyle/>
          <a:p>
            <a:r>
              <a:rPr lang="en-US" dirty="0"/>
              <a:t>HCL basics</a:t>
            </a:r>
            <a:endParaRPr lang="en-IN" dirty="0"/>
          </a:p>
        </p:txBody>
      </p:sp>
      <p:sp>
        <p:nvSpPr>
          <p:cNvPr id="3" name="Content Placeholder 2">
            <a:extLst>
              <a:ext uri="{FF2B5EF4-FFF2-40B4-BE49-F238E27FC236}">
                <a16:creationId xmlns:a16="http://schemas.microsoft.com/office/drawing/2014/main" id="{09722BE8-BD29-FB36-8685-11449FDEA449}"/>
              </a:ext>
            </a:extLst>
          </p:cNvPr>
          <p:cNvSpPr>
            <a:spLocks noGrp="1"/>
          </p:cNvSpPr>
          <p:nvPr>
            <p:ph idx="1"/>
          </p:nvPr>
        </p:nvSpPr>
        <p:spPr/>
        <p:txBody>
          <a:bodyPr/>
          <a:lstStyle/>
          <a:p>
            <a:r>
              <a:rPr lang="en-US" dirty="0"/>
              <a:t>A block is defined in curly braces which contains a set of arguments in key value pair format representing the configuration data.</a:t>
            </a:r>
          </a:p>
          <a:p>
            <a:r>
              <a:rPr lang="en-US" dirty="0"/>
              <a:t>In terraform block contains the information about the infra platform and the resources within that infra platform</a:t>
            </a:r>
          </a:p>
          <a:p>
            <a:r>
              <a:rPr lang="en-US" dirty="0" err="1"/>
              <a:t>Eg</a:t>
            </a:r>
            <a:r>
              <a:rPr lang="en-US" dirty="0"/>
              <a:t> in </a:t>
            </a:r>
            <a:r>
              <a:rPr lang="en-US" dirty="0" err="1"/>
              <a:t>aws</a:t>
            </a:r>
            <a:r>
              <a:rPr lang="en-US" dirty="0"/>
              <a:t> which infra resources we created like </a:t>
            </a:r>
            <a:r>
              <a:rPr lang="en-US" dirty="0" err="1"/>
              <a:t>vpc</a:t>
            </a:r>
            <a:r>
              <a:rPr lang="en-US" dirty="0"/>
              <a:t>, ec2 </a:t>
            </a:r>
            <a:r>
              <a:rPr lang="en-US" dirty="0" err="1"/>
              <a:t>etc</a:t>
            </a:r>
            <a:r>
              <a:rPr lang="en-US" dirty="0"/>
              <a:t> and its configuration resources</a:t>
            </a:r>
          </a:p>
          <a:p>
            <a:r>
              <a:rPr lang="en-US" dirty="0"/>
              <a:t>Here the concept is to create a terraform configuration directly and in that directory create a .</a:t>
            </a:r>
            <a:r>
              <a:rPr lang="en-US" dirty="0" err="1"/>
              <a:t>tf</a:t>
            </a:r>
            <a:r>
              <a:rPr lang="en-US" dirty="0"/>
              <a:t> </a:t>
            </a:r>
            <a:r>
              <a:rPr lang="en-US" dirty="0" err="1"/>
              <a:t>i.e</a:t>
            </a:r>
            <a:r>
              <a:rPr lang="en-US" dirty="0"/>
              <a:t> is the terraform config file.</a:t>
            </a:r>
          </a:p>
        </p:txBody>
      </p:sp>
    </p:spTree>
    <p:extLst>
      <p:ext uri="{BB962C8B-B14F-4D97-AF65-F5344CB8AC3E}">
        <p14:creationId xmlns:p14="http://schemas.microsoft.com/office/powerpoint/2010/main" val="3246211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31C65-5987-B3FA-F614-81E090E17715}"/>
              </a:ext>
            </a:extLst>
          </p:cNvPr>
          <p:cNvSpPr>
            <a:spLocks noGrp="1"/>
          </p:cNvSpPr>
          <p:nvPr>
            <p:ph type="title"/>
          </p:nvPr>
        </p:nvSpPr>
        <p:spPr/>
        <p:txBody>
          <a:bodyPr/>
          <a:lstStyle/>
          <a:p>
            <a:r>
              <a:rPr lang="en-US" dirty="0"/>
              <a:t>HCL basics</a:t>
            </a:r>
            <a:endParaRPr lang="en-IN" dirty="0"/>
          </a:p>
        </p:txBody>
      </p:sp>
      <p:sp>
        <p:nvSpPr>
          <p:cNvPr id="3" name="Content Placeholder 2">
            <a:extLst>
              <a:ext uri="{FF2B5EF4-FFF2-40B4-BE49-F238E27FC236}">
                <a16:creationId xmlns:a16="http://schemas.microsoft.com/office/drawing/2014/main" id="{F2507BCF-6E34-A75C-9A5A-BCA34F950E00}"/>
              </a:ext>
            </a:extLst>
          </p:cNvPr>
          <p:cNvSpPr>
            <a:spLocks noGrp="1"/>
          </p:cNvSpPr>
          <p:nvPr>
            <p:ph idx="1"/>
          </p:nvPr>
        </p:nvSpPr>
        <p:spPr/>
        <p:txBody>
          <a:bodyPr/>
          <a:lstStyle/>
          <a:p>
            <a:r>
              <a:rPr lang="en-US" dirty="0"/>
              <a:t>RESOURCE:- Resources are the most important element in the Terraform language. </a:t>
            </a:r>
          </a:p>
          <a:p>
            <a:r>
              <a:rPr lang="en-US" dirty="0"/>
              <a:t>Each resource block describes one or more infrastructure objects, such as virtual networks, compute instances, or higher-level components such as DNS records.</a:t>
            </a:r>
          </a:p>
          <a:p>
            <a:endParaRPr lang="en-IN" dirty="0"/>
          </a:p>
        </p:txBody>
      </p:sp>
    </p:spTree>
    <p:extLst>
      <p:ext uri="{BB962C8B-B14F-4D97-AF65-F5344CB8AC3E}">
        <p14:creationId xmlns:p14="http://schemas.microsoft.com/office/powerpoint/2010/main" val="195607602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131</TotalTime>
  <Words>957</Words>
  <Application>Microsoft Office PowerPoint</Application>
  <PresentationFormat>Widescreen</PresentationFormat>
  <Paragraphs>104</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Gill Sans MT</vt:lpstr>
      <vt:lpstr>Gallery</vt:lpstr>
      <vt:lpstr>Terraform</vt:lpstr>
      <vt:lpstr>Infrastructure as a code (Iaac)</vt:lpstr>
      <vt:lpstr>IAAC</vt:lpstr>
      <vt:lpstr>Types of IAAC tools</vt:lpstr>
      <vt:lpstr>IAAC</vt:lpstr>
      <vt:lpstr>Provisioning tools</vt:lpstr>
      <vt:lpstr>Mutable vs immutable infra</vt:lpstr>
      <vt:lpstr>Terraform  -- by hashicorp</vt:lpstr>
      <vt:lpstr>PowerPoint Presentation</vt:lpstr>
      <vt:lpstr>Terraform concepts </vt:lpstr>
      <vt:lpstr>PROVIDERS</vt:lpstr>
      <vt:lpstr>Providers and its registry</vt:lpstr>
      <vt:lpstr>Types of terraform providers</vt:lpstr>
      <vt:lpstr>HCL (hashicorp configuration lang.)</vt:lpstr>
      <vt:lpstr>HCL basics</vt:lpstr>
      <vt:lpstr>HCL basics</vt:lpstr>
      <vt:lpstr>HCL basics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Terraform</dc:title>
  <dc:creator>Shantanu Siddhi</dc:creator>
  <cp:lastModifiedBy>Shantanu Siddhi</cp:lastModifiedBy>
  <cp:revision>17</cp:revision>
  <dcterms:created xsi:type="dcterms:W3CDTF">2023-01-21T12:27:46Z</dcterms:created>
  <dcterms:modified xsi:type="dcterms:W3CDTF">2023-01-21T14:38:51Z</dcterms:modified>
</cp:coreProperties>
</file>